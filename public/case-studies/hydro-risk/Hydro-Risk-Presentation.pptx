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73" r:id="rId11"/>
    <p:sldId id="264" r:id="rId12"/>
    <p:sldId id="265" r:id="rId13"/>
    <p:sldId id="276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689DCF-B8EC-4D47-87C7-31A912264B0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27C19C-6F81-4FE6-A236-47570AA307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• Wholesale price behavior becomes non-linear as storage approaches scarcity thresholds</a:t>
          </a:r>
          <a:b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• Regime transitions are not formally detected within conventional monitoring frameworks</a:t>
          </a:r>
          <a:b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• Extreme tail risk is insufficiently integrated into operational risk management</a:t>
          </a:r>
        </a:p>
      </dgm:t>
    </dgm:pt>
    <dgm:pt modelId="{CB69FA95-B5E2-4B60-A542-FBFD99C66E9D}" type="parTrans" cxnId="{AECE78E5-364E-44D7-9B5B-131615E57789}">
      <dgm:prSet/>
      <dgm:spPr/>
      <dgm:t>
        <a:bodyPr/>
        <a:lstStyle/>
        <a:p>
          <a:endParaRPr lang="en-US"/>
        </a:p>
      </dgm:t>
    </dgm:pt>
    <dgm:pt modelId="{EF568C91-9BB6-4549-9312-2F3A3CFE01D0}" type="sibTrans" cxnId="{AECE78E5-364E-44D7-9B5B-131615E57789}">
      <dgm:prSet/>
      <dgm:spPr/>
      <dgm:t>
        <a:bodyPr/>
        <a:lstStyle/>
        <a:p>
          <a:endParaRPr lang="en-US"/>
        </a:p>
      </dgm:t>
    </dgm:pt>
    <dgm:pt modelId="{B44FA2F8-34C7-4A46-AC9E-2DF5DBC739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How can hydro storage indicators be systematically transformed into early-warning signals for extreme wholesale price risk?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508CBE-4F8D-487A-AFD7-49FD1EDDF660}" type="parTrans" cxnId="{DF8606AE-B12E-426F-9277-E0AC08102AD6}">
      <dgm:prSet/>
      <dgm:spPr/>
      <dgm:t>
        <a:bodyPr/>
        <a:lstStyle/>
        <a:p>
          <a:endParaRPr lang="en-US"/>
        </a:p>
      </dgm:t>
    </dgm:pt>
    <dgm:pt modelId="{5563204B-BB80-4B2B-8F94-5E094FC65FF7}" type="sibTrans" cxnId="{DF8606AE-B12E-426F-9277-E0AC08102AD6}">
      <dgm:prSet/>
      <dgm:spPr/>
      <dgm:t>
        <a:bodyPr/>
        <a:lstStyle/>
        <a:p>
          <a:endParaRPr lang="en-US"/>
        </a:p>
      </dgm:t>
    </dgm:pt>
    <dgm:pt modelId="{25289006-32CE-41B8-A804-8488D18301B7}" type="pres">
      <dgm:prSet presAssocID="{63689DCF-B8EC-4D47-87C7-31A912264B05}" presName="root" presStyleCnt="0">
        <dgm:presLayoutVars>
          <dgm:dir/>
          <dgm:resizeHandles val="exact"/>
        </dgm:presLayoutVars>
      </dgm:prSet>
      <dgm:spPr/>
    </dgm:pt>
    <dgm:pt modelId="{B1D9D1E2-5DE6-44B4-B78E-2C596BAF7B46}" type="pres">
      <dgm:prSet presAssocID="{3D27C19C-6F81-4FE6-A236-47570AA3072F}" presName="compNode" presStyleCnt="0"/>
      <dgm:spPr/>
    </dgm:pt>
    <dgm:pt modelId="{96565ABE-728D-410B-A90D-4AC632DCFFC8}" type="pres">
      <dgm:prSet presAssocID="{3D27C19C-6F81-4FE6-A236-47570AA3072F}" presName="bgRect" presStyleLbl="bgShp" presStyleIdx="0" presStyleCnt="2" custLinFactY="11073" custLinFactNeighborY="100000"/>
      <dgm:spPr/>
    </dgm:pt>
    <dgm:pt modelId="{500614F1-16C0-4997-92FF-93841A7C6E14}" type="pres">
      <dgm:prSet presAssocID="{3D27C19C-6F81-4FE6-A236-47570AA3072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CCDA4AC2-071F-4ABE-A569-EF9774818D7D}" type="pres">
      <dgm:prSet presAssocID="{3D27C19C-6F81-4FE6-A236-47570AA3072F}" presName="spaceRect" presStyleCnt="0"/>
      <dgm:spPr/>
    </dgm:pt>
    <dgm:pt modelId="{5B5C4261-CC46-4FB7-AF95-358D51019C8D}" type="pres">
      <dgm:prSet presAssocID="{3D27C19C-6F81-4FE6-A236-47570AA3072F}" presName="parTx" presStyleLbl="revTx" presStyleIdx="0" presStyleCnt="2">
        <dgm:presLayoutVars>
          <dgm:chMax val="0"/>
          <dgm:chPref val="0"/>
        </dgm:presLayoutVars>
      </dgm:prSet>
      <dgm:spPr/>
    </dgm:pt>
    <dgm:pt modelId="{60107AEF-B409-4FB2-9981-749AB7D43B24}" type="pres">
      <dgm:prSet presAssocID="{EF568C91-9BB6-4549-9312-2F3A3CFE01D0}" presName="sibTrans" presStyleCnt="0"/>
      <dgm:spPr/>
    </dgm:pt>
    <dgm:pt modelId="{F7BD6036-4CB0-401B-8962-D2216B0D51FC}" type="pres">
      <dgm:prSet presAssocID="{B44FA2F8-34C7-4A46-AC9E-2DF5DBC7391E}" presName="compNode" presStyleCnt="0"/>
      <dgm:spPr/>
    </dgm:pt>
    <dgm:pt modelId="{0512B245-60B1-40F3-91CC-C1D9AA8D0E63}" type="pres">
      <dgm:prSet presAssocID="{B44FA2F8-34C7-4A46-AC9E-2DF5DBC7391E}" presName="bgRect" presStyleLbl="bgShp" presStyleIdx="1" presStyleCnt="2"/>
      <dgm:spPr/>
    </dgm:pt>
    <dgm:pt modelId="{7853D6BB-6007-4750-ACAC-F40693E6DB30}" type="pres">
      <dgm:prSet presAssocID="{B44FA2F8-34C7-4A46-AC9E-2DF5DBC7391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BBBB2FA7-1F2A-4B1B-AEBE-064994585EFC}" type="pres">
      <dgm:prSet presAssocID="{B44FA2F8-34C7-4A46-AC9E-2DF5DBC7391E}" presName="spaceRect" presStyleCnt="0"/>
      <dgm:spPr/>
    </dgm:pt>
    <dgm:pt modelId="{0674C005-C226-4D9B-8635-792833F99E96}" type="pres">
      <dgm:prSet presAssocID="{B44FA2F8-34C7-4A46-AC9E-2DF5DBC7391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00BFA05-6C81-4F10-81DD-301C19D0F6A2}" type="presOf" srcId="{3D27C19C-6F81-4FE6-A236-47570AA3072F}" destId="{5B5C4261-CC46-4FB7-AF95-358D51019C8D}" srcOrd="0" destOrd="0" presId="urn:microsoft.com/office/officeart/2018/2/layout/IconVerticalSolidList"/>
    <dgm:cxn modelId="{12AB9A1F-20A4-411D-8FD5-419AA9375744}" type="presOf" srcId="{63689DCF-B8EC-4D47-87C7-31A912264B05}" destId="{25289006-32CE-41B8-A804-8488D18301B7}" srcOrd="0" destOrd="0" presId="urn:microsoft.com/office/officeart/2018/2/layout/IconVerticalSolidList"/>
    <dgm:cxn modelId="{DF8606AE-B12E-426F-9277-E0AC08102AD6}" srcId="{63689DCF-B8EC-4D47-87C7-31A912264B05}" destId="{B44FA2F8-34C7-4A46-AC9E-2DF5DBC7391E}" srcOrd="1" destOrd="0" parTransId="{7D508CBE-4F8D-487A-AFD7-49FD1EDDF660}" sibTransId="{5563204B-BB80-4B2B-8F94-5E094FC65FF7}"/>
    <dgm:cxn modelId="{AECE78E5-364E-44D7-9B5B-131615E57789}" srcId="{63689DCF-B8EC-4D47-87C7-31A912264B05}" destId="{3D27C19C-6F81-4FE6-A236-47570AA3072F}" srcOrd="0" destOrd="0" parTransId="{CB69FA95-B5E2-4B60-A542-FBFD99C66E9D}" sibTransId="{EF568C91-9BB6-4549-9312-2F3A3CFE01D0}"/>
    <dgm:cxn modelId="{9362A9F5-0F6F-495D-B1F2-B941E360D70C}" type="presOf" srcId="{B44FA2F8-34C7-4A46-AC9E-2DF5DBC7391E}" destId="{0674C005-C226-4D9B-8635-792833F99E96}" srcOrd="0" destOrd="0" presId="urn:microsoft.com/office/officeart/2018/2/layout/IconVerticalSolidList"/>
    <dgm:cxn modelId="{A00546C1-CA23-4113-A162-F2D1A264B478}" type="presParOf" srcId="{25289006-32CE-41B8-A804-8488D18301B7}" destId="{B1D9D1E2-5DE6-44B4-B78E-2C596BAF7B46}" srcOrd="0" destOrd="0" presId="urn:microsoft.com/office/officeart/2018/2/layout/IconVerticalSolidList"/>
    <dgm:cxn modelId="{A12F8457-9648-4E34-9494-3D30E59D68A5}" type="presParOf" srcId="{B1D9D1E2-5DE6-44B4-B78E-2C596BAF7B46}" destId="{96565ABE-728D-410B-A90D-4AC632DCFFC8}" srcOrd="0" destOrd="0" presId="urn:microsoft.com/office/officeart/2018/2/layout/IconVerticalSolidList"/>
    <dgm:cxn modelId="{4105B7EB-5570-4E67-A7BB-988A73284ACB}" type="presParOf" srcId="{B1D9D1E2-5DE6-44B4-B78E-2C596BAF7B46}" destId="{500614F1-16C0-4997-92FF-93841A7C6E14}" srcOrd="1" destOrd="0" presId="urn:microsoft.com/office/officeart/2018/2/layout/IconVerticalSolidList"/>
    <dgm:cxn modelId="{61C6C649-54BF-4556-855F-DC43179A3027}" type="presParOf" srcId="{B1D9D1E2-5DE6-44B4-B78E-2C596BAF7B46}" destId="{CCDA4AC2-071F-4ABE-A569-EF9774818D7D}" srcOrd="2" destOrd="0" presId="urn:microsoft.com/office/officeart/2018/2/layout/IconVerticalSolidList"/>
    <dgm:cxn modelId="{009EA9D3-4FF4-437A-98EE-2D0C08DDFA6B}" type="presParOf" srcId="{B1D9D1E2-5DE6-44B4-B78E-2C596BAF7B46}" destId="{5B5C4261-CC46-4FB7-AF95-358D51019C8D}" srcOrd="3" destOrd="0" presId="urn:microsoft.com/office/officeart/2018/2/layout/IconVerticalSolidList"/>
    <dgm:cxn modelId="{095D4E27-D11A-4C43-8B06-A4D4FC9F4A0B}" type="presParOf" srcId="{25289006-32CE-41B8-A804-8488D18301B7}" destId="{60107AEF-B409-4FB2-9981-749AB7D43B24}" srcOrd="1" destOrd="0" presId="urn:microsoft.com/office/officeart/2018/2/layout/IconVerticalSolidList"/>
    <dgm:cxn modelId="{4AED1228-3835-4C7A-853B-D77211C182B9}" type="presParOf" srcId="{25289006-32CE-41B8-A804-8488D18301B7}" destId="{F7BD6036-4CB0-401B-8962-D2216B0D51FC}" srcOrd="2" destOrd="0" presId="urn:microsoft.com/office/officeart/2018/2/layout/IconVerticalSolidList"/>
    <dgm:cxn modelId="{B89F2C73-1A3E-4131-9811-038F520D2AF4}" type="presParOf" srcId="{F7BD6036-4CB0-401B-8962-D2216B0D51FC}" destId="{0512B245-60B1-40F3-91CC-C1D9AA8D0E63}" srcOrd="0" destOrd="0" presId="urn:microsoft.com/office/officeart/2018/2/layout/IconVerticalSolidList"/>
    <dgm:cxn modelId="{438881C6-61FF-40B3-92F1-88FBD828D5FE}" type="presParOf" srcId="{F7BD6036-4CB0-401B-8962-D2216B0D51FC}" destId="{7853D6BB-6007-4750-ACAC-F40693E6DB30}" srcOrd="1" destOrd="0" presId="urn:microsoft.com/office/officeart/2018/2/layout/IconVerticalSolidList"/>
    <dgm:cxn modelId="{E25AA912-7BBE-46A6-A3CD-A4D694E57A0C}" type="presParOf" srcId="{F7BD6036-4CB0-401B-8962-D2216B0D51FC}" destId="{BBBB2FA7-1F2A-4B1B-AEBE-064994585EFC}" srcOrd="2" destOrd="0" presId="urn:microsoft.com/office/officeart/2018/2/layout/IconVerticalSolidList"/>
    <dgm:cxn modelId="{7091A553-2A9C-4D3D-AE87-992D26482735}" type="presParOf" srcId="{F7BD6036-4CB0-401B-8962-D2216B0D51FC}" destId="{0674C005-C226-4D9B-8635-792833F99E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CB95C9-5207-4B05-83EB-CC3305C7A960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7EAAB282-CB4E-4A36-9B2F-6222ECA20656}">
      <dgm:prSet phldrT="[Text]" phldr="0"/>
      <dgm:spPr/>
      <dgm:t>
        <a:bodyPr/>
        <a:lstStyle/>
        <a:p>
          <a:r>
            <a:rPr lang="en-US" dirty="0"/>
            <a:t>Regime Classification (Normal/Low)</a:t>
          </a:r>
          <a:endParaRPr lang="en-IN" dirty="0"/>
        </a:p>
      </dgm:t>
    </dgm:pt>
    <dgm:pt modelId="{A13F74B0-98BB-40B1-B08B-7ADDF444C046}" type="parTrans" cxnId="{B73EF039-A809-4FB6-A706-BDF42EE102C2}">
      <dgm:prSet/>
      <dgm:spPr/>
      <dgm:t>
        <a:bodyPr/>
        <a:lstStyle/>
        <a:p>
          <a:endParaRPr lang="en-IN"/>
        </a:p>
      </dgm:t>
    </dgm:pt>
    <dgm:pt modelId="{2ADCE789-C30B-42F5-ACF2-B52B636292DE}" type="sibTrans" cxnId="{B73EF039-A809-4FB6-A706-BDF42EE102C2}">
      <dgm:prSet/>
      <dgm:spPr/>
      <dgm:t>
        <a:bodyPr/>
        <a:lstStyle/>
        <a:p>
          <a:endParaRPr lang="en-IN" dirty="0"/>
        </a:p>
      </dgm:t>
    </dgm:pt>
    <dgm:pt modelId="{894627C9-BAE6-4E54-AD85-9A5BE099B379}">
      <dgm:prSet phldrT="[Text]" phldr="0"/>
      <dgm:spPr/>
      <dgm:t>
        <a:bodyPr/>
        <a:lstStyle/>
        <a:p>
          <a:r>
            <a:rPr lang="en-US" dirty="0"/>
            <a:t>Tail Amplification (P95 / </a:t>
          </a:r>
          <a:r>
            <a:rPr lang="en-US"/>
            <a:t>CVaR)</a:t>
          </a:r>
          <a:endParaRPr lang="en-IN" dirty="0"/>
        </a:p>
      </dgm:t>
    </dgm:pt>
    <dgm:pt modelId="{17C4F7D7-AEF5-43C5-8B0B-7F88DEA80BC2}" type="parTrans" cxnId="{6241E35D-D744-4777-8F5D-73B80686C171}">
      <dgm:prSet/>
      <dgm:spPr/>
      <dgm:t>
        <a:bodyPr/>
        <a:lstStyle/>
        <a:p>
          <a:endParaRPr lang="en-IN"/>
        </a:p>
      </dgm:t>
    </dgm:pt>
    <dgm:pt modelId="{0D451B47-2752-44F6-BAA1-143F2525CDC7}" type="sibTrans" cxnId="{6241E35D-D744-4777-8F5D-73B80686C171}">
      <dgm:prSet/>
      <dgm:spPr/>
      <dgm:t>
        <a:bodyPr/>
        <a:lstStyle/>
        <a:p>
          <a:endParaRPr lang="en-IN"/>
        </a:p>
      </dgm:t>
    </dgm:pt>
    <dgm:pt modelId="{0C65D4E9-BC5F-4F59-9554-4E5780B5C657}">
      <dgm:prSet phldrT="[Text]" phldr="0"/>
      <dgm:spPr/>
      <dgm:t>
        <a:bodyPr/>
        <a:lstStyle/>
        <a:p>
          <a:r>
            <a:rPr lang="en-US" dirty="0"/>
            <a:t>Procurement Risk Exposure</a:t>
          </a:r>
          <a:endParaRPr lang="en-IN" dirty="0"/>
        </a:p>
      </dgm:t>
    </dgm:pt>
    <dgm:pt modelId="{23DA9FA5-1F16-4F16-AF03-F657227A9B39}" type="parTrans" cxnId="{AABD3BBE-E728-4451-96EC-14AB9CEBA66B}">
      <dgm:prSet/>
      <dgm:spPr/>
      <dgm:t>
        <a:bodyPr/>
        <a:lstStyle/>
        <a:p>
          <a:endParaRPr lang="en-IN"/>
        </a:p>
      </dgm:t>
    </dgm:pt>
    <dgm:pt modelId="{02C1DB9D-B443-4C9F-B9D1-47FDDC03850F}" type="sibTrans" cxnId="{AABD3BBE-E728-4451-96EC-14AB9CEBA66B}">
      <dgm:prSet/>
      <dgm:spPr/>
      <dgm:t>
        <a:bodyPr/>
        <a:lstStyle/>
        <a:p>
          <a:endParaRPr lang="en-IN"/>
        </a:p>
      </dgm:t>
    </dgm:pt>
    <dgm:pt modelId="{80FB58C8-AA63-4F70-8DFA-359A37ABBD84}">
      <dgm:prSet phldrT="[Text]" phldr="0"/>
      <dgm:spPr/>
      <dgm:t>
        <a:bodyPr/>
        <a:lstStyle/>
        <a:p>
          <a:r>
            <a:rPr lang="en-US" dirty="0"/>
            <a:t>Hydro Storage Level</a:t>
          </a:r>
          <a:endParaRPr lang="en-IN" dirty="0"/>
        </a:p>
      </dgm:t>
    </dgm:pt>
    <dgm:pt modelId="{AAFE14A9-247B-4FC2-BEA7-5195AE8200BC}" type="sibTrans" cxnId="{0F8D7CB4-BE22-49B6-AA8D-4FDFBE0F30EE}">
      <dgm:prSet/>
      <dgm:spPr/>
      <dgm:t>
        <a:bodyPr/>
        <a:lstStyle/>
        <a:p>
          <a:endParaRPr lang="en-IN"/>
        </a:p>
      </dgm:t>
    </dgm:pt>
    <dgm:pt modelId="{00B42C55-5078-44DB-9D33-0D7A74833F77}" type="parTrans" cxnId="{0F8D7CB4-BE22-49B6-AA8D-4FDFBE0F30EE}">
      <dgm:prSet/>
      <dgm:spPr/>
      <dgm:t>
        <a:bodyPr/>
        <a:lstStyle/>
        <a:p>
          <a:endParaRPr lang="en-IN"/>
        </a:p>
      </dgm:t>
    </dgm:pt>
    <dgm:pt modelId="{46F1DA8B-3EC7-492C-B4F4-7F9FA0A70AA1}">
      <dgm:prSet/>
      <dgm:spPr/>
      <dgm:t>
        <a:bodyPr/>
        <a:lstStyle/>
        <a:p>
          <a:r>
            <a:rPr lang="en-US" dirty="0"/>
            <a:t>Scarcity Threshold (10</a:t>
          </a:r>
          <a:r>
            <a:rPr lang="en-US" baseline="30000" dirty="0"/>
            <a:t>th</a:t>
          </a:r>
          <a:r>
            <a:rPr lang="en-US" dirty="0"/>
            <a:t> Percentile)</a:t>
          </a:r>
          <a:endParaRPr lang="en-IN" dirty="0"/>
        </a:p>
      </dgm:t>
    </dgm:pt>
    <dgm:pt modelId="{3EA6D130-5EB6-4707-98E5-44204908E36A}" type="parTrans" cxnId="{309E1069-F389-4E17-801F-609A28DA302C}">
      <dgm:prSet/>
      <dgm:spPr/>
      <dgm:t>
        <a:bodyPr/>
        <a:lstStyle/>
        <a:p>
          <a:endParaRPr lang="en-IN"/>
        </a:p>
      </dgm:t>
    </dgm:pt>
    <dgm:pt modelId="{CE723EDE-E774-45E0-B928-82D534579297}" type="sibTrans" cxnId="{309E1069-F389-4E17-801F-609A28DA302C}">
      <dgm:prSet/>
      <dgm:spPr/>
      <dgm:t>
        <a:bodyPr/>
        <a:lstStyle/>
        <a:p>
          <a:endParaRPr lang="en-IN"/>
        </a:p>
      </dgm:t>
    </dgm:pt>
    <dgm:pt modelId="{900EC104-036B-47C3-A26E-1BBEE259FFA3}">
      <dgm:prSet phldrT="[Text]" phldr="0"/>
      <dgm:spPr/>
      <dgm:t>
        <a:bodyPr/>
        <a:lstStyle/>
        <a:p>
          <a:r>
            <a:rPr lang="en-US"/>
            <a:t>Price Distribution Shift</a:t>
          </a:r>
          <a:endParaRPr lang="en-IN" dirty="0"/>
        </a:p>
      </dgm:t>
    </dgm:pt>
    <dgm:pt modelId="{14B7C404-7F3F-485C-A77A-A8E93CF1CFAC}" type="parTrans" cxnId="{4FFDB56D-F08E-4311-8A74-80AA29C7DF46}">
      <dgm:prSet/>
      <dgm:spPr/>
      <dgm:t>
        <a:bodyPr/>
        <a:lstStyle/>
        <a:p>
          <a:endParaRPr lang="en-IN"/>
        </a:p>
      </dgm:t>
    </dgm:pt>
    <dgm:pt modelId="{6E9E1A34-C577-4B67-9E48-07356BB279DC}" type="sibTrans" cxnId="{4FFDB56D-F08E-4311-8A74-80AA29C7DF46}">
      <dgm:prSet/>
      <dgm:spPr/>
      <dgm:t>
        <a:bodyPr/>
        <a:lstStyle/>
        <a:p>
          <a:endParaRPr lang="en-IN"/>
        </a:p>
      </dgm:t>
    </dgm:pt>
    <dgm:pt modelId="{5969ABAC-7B28-4514-902B-184B3EFBECA1}" type="pres">
      <dgm:prSet presAssocID="{0CCB95C9-5207-4B05-83EB-CC3305C7A960}" presName="Name0" presStyleCnt="0">
        <dgm:presLayoutVars>
          <dgm:dir/>
          <dgm:resizeHandles val="exact"/>
        </dgm:presLayoutVars>
      </dgm:prSet>
      <dgm:spPr/>
    </dgm:pt>
    <dgm:pt modelId="{EEE49E6A-F609-40B8-8950-62227C013DF3}" type="pres">
      <dgm:prSet presAssocID="{80FB58C8-AA63-4F70-8DFA-359A37ABBD84}" presName="node" presStyleLbl="node1" presStyleIdx="0" presStyleCnt="6">
        <dgm:presLayoutVars>
          <dgm:bulletEnabled val="1"/>
        </dgm:presLayoutVars>
      </dgm:prSet>
      <dgm:spPr/>
    </dgm:pt>
    <dgm:pt modelId="{0DB24D95-E852-4B8F-84BD-DFA577DE19E0}" type="pres">
      <dgm:prSet presAssocID="{AAFE14A9-247B-4FC2-BEA7-5195AE8200BC}" presName="sibTrans" presStyleLbl="sibTrans1D1" presStyleIdx="0" presStyleCnt="5"/>
      <dgm:spPr/>
    </dgm:pt>
    <dgm:pt modelId="{C21678C6-209F-4A83-B7BC-43F8611D45A7}" type="pres">
      <dgm:prSet presAssocID="{AAFE14A9-247B-4FC2-BEA7-5195AE8200BC}" presName="connectorText" presStyleLbl="sibTrans1D1" presStyleIdx="0" presStyleCnt="5"/>
      <dgm:spPr/>
    </dgm:pt>
    <dgm:pt modelId="{76AF1960-8ADD-4A99-93D6-79B9EC4CDC24}" type="pres">
      <dgm:prSet presAssocID="{46F1DA8B-3EC7-492C-B4F4-7F9FA0A70AA1}" presName="node" presStyleLbl="node1" presStyleIdx="1" presStyleCnt="6">
        <dgm:presLayoutVars>
          <dgm:bulletEnabled val="1"/>
        </dgm:presLayoutVars>
      </dgm:prSet>
      <dgm:spPr/>
    </dgm:pt>
    <dgm:pt modelId="{BBED8958-A2D3-4447-80EB-5FE4ED222B06}" type="pres">
      <dgm:prSet presAssocID="{CE723EDE-E774-45E0-B928-82D534579297}" presName="sibTrans" presStyleLbl="sibTrans1D1" presStyleIdx="1" presStyleCnt="5"/>
      <dgm:spPr/>
    </dgm:pt>
    <dgm:pt modelId="{8F098DA9-14B4-4E98-B03D-152352E500B8}" type="pres">
      <dgm:prSet presAssocID="{CE723EDE-E774-45E0-B928-82D534579297}" presName="connectorText" presStyleLbl="sibTrans1D1" presStyleIdx="1" presStyleCnt="5"/>
      <dgm:spPr/>
    </dgm:pt>
    <dgm:pt modelId="{409E7A43-C72D-47C5-A03F-C54596C81718}" type="pres">
      <dgm:prSet presAssocID="{7EAAB282-CB4E-4A36-9B2F-6222ECA20656}" presName="node" presStyleLbl="node1" presStyleIdx="2" presStyleCnt="6">
        <dgm:presLayoutVars>
          <dgm:bulletEnabled val="1"/>
        </dgm:presLayoutVars>
      </dgm:prSet>
      <dgm:spPr/>
    </dgm:pt>
    <dgm:pt modelId="{B32B9BFD-1D22-4CD4-A07F-14BECCDCD668}" type="pres">
      <dgm:prSet presAssocID="{2ADCE789-C30B-42F5-ACF2-B52B636292DE}" presName="sibTrans" presStyleLbl="sibTrans1D1" presStyleIdx="2" presStyleCnt="5"/>
      <dgm:spPr/>
    </dgm:pt>
    <dgm:pt modelId="{C1726103-AE35-44DE-9E8B-2F1EEF40F3C2}" type="pres">
      <dgm:prSet presAssocID="{2ADCE789-C30B-42F5-ACF2-B52B636292DE}" presName="connectorText" presStyleLbl="sibTrans1D1" presStyleIdx="2" presStyleCnt="5"/>
      <dgm:spPr/>
    </dgm:pt>
    <dgm:pt modelId="{13413934-D70D-4C35-8F95-A9F8CDE20473}" type="pres">
      <dgm:prSet presAssocID="{900EC104-036B-47C3-A26E-1BBEE259FFA3}" presName="node" presStyleLbl="node1" presStyleIdx="3" presStyleCnt="6">
        <dgm:presLayoutVars>
          <dgm:bulletEnabled val="1"/>
        </dgm:presLayoutVars>
      </dgm:prSet>
      <dgm:spPr/>
    </dgm:pt>
    <dgm:pt modelId="{E897BD46-CC11-483A-879C-1A4AF6763BAD}" type="pres">
      <dgm:prSet presAssocID="{6E9E1A34-C577-4B67-9E48-07356BB279DC}" presName="sibTrans" presStyleLbl="sibTrans1D1" presStyleIdx="3" presStyleCnt="5"/>
      <dgm:spPr/>
    </dgm:pt>
    <dgm:pt modelId="{B0BDB0A3-0005-4A9D-A442-7DE889C96AA6}" type="pres">
      <dgm:prSet presAssocID="{6E9E1A34-C577-4B67-9E48-07356BB279DC}" presName="connectorText" presStyleLbl="sibTrans1D1" presStyleIdx="3" presStyleCnt="5"/>
      <dgm:spPr/>
    </dgm:pt>
    <dgm:pt modelId="{7C0E534F-5BA0-453E-B599-C01A594658F0}" type="pres">
      <dgm:prSet presAssocID="{894627C9-BAE6-4E54-AD85-9A5BE099B379}" presName="node" presStyleLbl="node1" presStyleIdx="4" presStyleCnt="6">
        <dgm:presLayoutVars>
          <dgm:bulletEnabled val="1"/>
        </dgm:presLayoutVars>
      </dgm:prSet>
      <dgm:spPr/>
    </dgm:pt>
    <dgm:pt modelId="{14D5C788-8020-4A71-BAC2-03A3A8584A22}" type="pres">
      <dgm:prSet presAssocID="{0D451B47-2752-44F6-BAA1-143F2525CDC7}" presName="sibTrans" presStyleLbl="sibTrans1D1" presStyleIdx="4" presStyleCnt="5"/>
      <dgm:spPr/>
    </dgm:pt>
    <dgm:pt modelId="{034DC336-902E-4EA5-9215-FB4D3EA031BD}" type="pres">
      <dgm:prSet presAssocID="{0D451B47-2752-44F6-BAA1-143F2525CDC7}" presName="connectorText" presStyleLbl="sibTrans1D1" presStyleIdx="4" presStyleCnt="5"/>
      <dgm:spPr/>
    </dgm:pt>
    <dgm:pt modelId="{56ADA2AF-1B36-4A0C-AC9D-CC482472902B}" type="pres">
      <dgm:prSet presAssocID="{0C65D4E9-BC5F-4F59-9554-4E5780B5C657}" presName="node" presStyleLbl="node1" presStyleIdx="5" presStyleCnt="6">
        <dgm:presLayoutVars>
          <dgm:bulletEnabled val="1"/>
        </dgm:presLayoutVars>
      </dgm:prSet>
      <dgm:spPr/>
    </dgm:pt>
  </dgm:ptLst>
  <dgm:cxnLst>
    <dgm:cxn modelId="{55C86505-065D-47D6-9DC5-52DC7692CF34}" type="presOf" srcId="{6E9E1A34-C577-4B67-9E48-07356BB279DC}" destId="{B0BDB0A3-0005-4A9D-A442-7DE889C96AA6}" srcOrd="1" destOrd="0" presId="urn:microsoft.com/office/officeart/2005/8/layout/bProcess3"/>
    <dgm:cxn modelId="{E25E7205-24BB-4059-AB4F-4386A7FD0C2A}" type="presOf" srcId="{CE723EDE-E774-45E0-B928-82D534579297}" destId="{BBED8958-A2D3-4447-80EB-5FE4ED222B06}" srcOrd="0" destOrd="0" presId="urn:microsoft.com/office/officeart/2005/8/layout/bProcess3"/>
    <dgm:cxn modelId="{AA60350F-A729-42FC-9CAE-2BFDC1DFF645}" type="presOf" srcId="{894627C9-BAE6-4E54-AD85-9A5BE099B379}" destId="{7C0E534F-5BA0-453E-B599-C01A594658F0}" srcOrd="0" destOrd="0" presId="urn:microsoft.com/office/officeart/2005/8/layout/bProcess3"/>
    <dgm:cxn modelId="{F7029916-2434-416B-B685-36DD32E61A2E}" type="presOf" srcId="{0D451B47-2752-44F6-BAA1-143F2525CDC7}" destId="{034DC336-902E-4EA5-9215-FB4D3EA031BD}" srcOrd="1" destOrd="0" presId="urn:microsoft.com/office/officeart/2005/8/layout/bProcess3"/>
    <dgm:cxn modelId="{5752471F-2F0C-495B-962E-C4E4096E9EDD}" type="presOf" srcId="{80FB58C8-AA63-4F70-8DFA-359A37ABBD84}" destId="{EEE49E6A-F609-40B8-8950-62227C013DF3}" srcOrd="0" destOrd="0" presId="urn:microsoft.com/office/officeart/2005/8/layout/bProcess3"/>
    <dgm:cxn modelId="{1A31812A-8F3A-44B6-9079-9F0604605D8B}" type="presOf" srcId="{900EC104-036B-47C3-A26E-1BBEE259FFA3}" destId="{13413934-D70D-4C35-8F95-A9F8CDE20473}" srcOrd="0" destOrd="0" presId="urn:microsoft.com/office/officeart/2005/8/layout/bProcess3"/>
    <dgm:cxn modelId="{5346E42C-57FE-4F96-BC4B-99EA9C8D72E8}" type="presOf" srcId="{0CCB95C9-5207-4B05-83EB-CC3305C7A960}" destId="{5969ABAC-7B28-4514-902B-184B3EFBECA1}" srcOrd="0" destOrd="0" presId="urn:microsoft.com/office/officeart/2005/8/layout/bProcess3"/>
    <dgm:cxn modelId="{B73EF039-A809-4FB6-A706-BDF42EE102C2}" srcId="{0CCB95C9-5207-4B05-83EB-CC3305C7A960}" destId="{7EAAB282-CB4E-4A36-9B2F-6222ECA20656}" srcOrd="2" destOrd="0" parTransId="{A13F74B0-98BB-40B1-B08B-7ADDF444C046}" sibTransId="{2ADCE789-C30B-42F5-ACF2-B52B636292DE}"/>
    <dgm:cxn modelId="{6241E35D-D744-4777-8F5D-73B80686C171}" srcId="{0CCB95C9-5207-4B05-83EB-CC3305C7A960}" destId="{894627C9-BAE6-4E54-AD85-9A5BE099B379}" srcOrd="4" destOrd="0" parTransId="{17C4F7D7-AEF5-43C5-8B0B-7F88DEA80BC2}" sibTransId="{0D451B47-2752-44F6-BAA1-143F2525CDC7}"/>
    <dgm:cxn modelId="{E6CED242-CA45-4E5D-8937-7B412965D3DE}" type="presOf" srcId="{2ADCE789-C30B-42F5-ACF2-B52B636292DE}" destId="{B32B9BFD-1D22-4CD4-A07F-14BECCDCD668}" srcOrd="0" destOrd="0" presId="urn:microsoft.com/office/officeart/2005/8/layout/bProcess3"/>
    <dgm:cxn modelId="{967F5865-323A-4595-92D5-DD48E1EA332C}" type="presOf" srcId="{46F1DA8B-3EC7-492C-B4F4-7F9FA0A70AA1}" destId="{76AF1960-8ADD-4A99-93D6-79B9EC4CDC24}" srcOrd="0" destOrd="0" presId="urn:microsoft.com/office/officeart/2005/8/layout/bProcess3"/>
    <dgm:cxn modelId="{309E1069-F389-4E17-801F-609A28DA302C}" srcId="{0CCB95C9-5207-4B05-83EB-CC3305C7A960}" destId="{46F1DA8B-3EC7-492C-B4F4-7F9FA0A70AA1}" srcOrd="1" destOrd="0" parTransId="{3EA6D130-5EB6-4707-98E5-44204908E36A}" sibTransId="{CE723EDE-E774-45E0-B928-82D534579297}"/>
    <dgm:cxn modelId="{BBB52F4C-E3CC-4FDD-8A85-A9DB134C40D2}" type="presOf" srcId="{7EAAB282-CB4E-4A36-9B2F-6222ECA20656}" destId="{409E7A43-C72D-47C5-A03F-C54596C81718}" srcOrd="0" destOrd="0" presId="urn:microsoft.com/office/officeart/2005/8/layout/bProcess3"/>
    <dgm:cxn modelId="{4FFDB56D-F08E-4311-8A74-80AA29C7DF46}" srcId="{0CCB95C9-5207-4B05-83EB-CC3305C7A960}" destId="{900EC104-036B-47C3-A26E-1BBEE259FFA3}" srcOrd="3" destOrd="0" parTransId="{14B7C404-7F3F-485C-A77A-A8E93CF1CFAC}" sibTransId="{6E9E1A34-C577-4B67-9E48-07356BB279DC}"/>
    <dgm:cxn modelId="{32B17F76-4CE1-49A5-8405-062D1255E4C3}" type="presOf" srcId="{AAFE14A9-247B-4FC2-BEA7-5195AE8200BC}" destId="{0DB24D95-E852-4B8F-84BD-DFA577DE19E0}" srcOrd="0" destOrd="0" presId="urn:microsoft.com/office/officeart/2005/8/layout/bProcess3"/>
    <dgm:cxn modelId="{36E96A81-D160-450A-9522-98A13633196A}" type="presOf" srcId="{6E9E1A34-C577-4B67-9E48-07356BB279DC}" destId="{E897BD46-CC11-483A-879C-1A4AF6763BAD}" srcOrd="0" destOrd="0" presId="urn:microsoft.com/office/officeart/2005/8/layout/bProcess3"/>
    <dgm:cxn modelId="{A546F688-1B2F-433B-923B-2CB3173B981A}" type="presOf" srcId="{AAFE14A9-247B-4FC2-BEA7-5195AE8200BC}" destId="{C21678C6-209F-4A83-B7BC-43F8611D45A7}" srcOrd="1" destOrd="0" presId="urn:microsoft.com/office/officeart/2005/8/layout/bProcess3"/>
    <dgm:cxn modelId="{FD61D68D-0861-40E7-A5AE-2FFF205D2B56}" type="presOf" srcId="{0C65D4E9-BC5F-4F59-9554-4E5780B5C657}" destId="{56ADA2AF-1B36-4A0C-AC9D-CC482472902B}" srcOrd="0" destOrd="0" presId="urn:microsoft.com/office/officeart/2005/8/layout/bProcess3"/>
    <dgm:cxn modelId="{05DAB5A7-2914-4B48-98F5-9A1A8C5AB15D}" type="presOf" srcId="{2ADCE789-C30B-42F5-ACF2-B52B636292DE}" destId="{C1726103-AE35-44DE-9E8B-2F1EEF40F3C2}" srcOrd="1" destOrd="0" presId="urn:microsoft.com/office/officeart/2005/8/layout/bProcess3"/>
    <dgm:cxn modelId="{0F8D7CB4-BE22-49B6-AA8D-4FDFBE0F30EE}" srcId="{0CCB95C9-5207-4B05-83EB-CC3305C7A960}" destId="{80FB58C8-AA63-4F70-8DFA-359A37ABBD84}" srcOrd="0" destOrd="0" parTransId="{00B42C55-5078-44DB-9D33-0D7A74833F77}" sibTransId="{AAFE14A9-247B-4FC2-BEA7-5195AE8200BC}"/>
    <dgm:cxn modelId="{AABD3BBE-E728-4451-96EC-14AB9CEBA66B}" srcId="{0CCB95C9-5207-4B05-83EB-CC3305C7A960}" destId="{0C65D4E9-BC5F-4F59-9554-4E5780B5C657}" srcOrd="5" destOrd="0" parTransId="{23DA9FA5-1F16-4F16-AF03-F657227A9B39}" sibTransId="{02C1DB9D-B443-4C9F-B9D1-47FDDC03850F}"/>
    <dgm:cxn modelId="{6EE47AD5-86B2-43A9-9BBD-1D3DAE4DC4F9}" type="presOf" srcId="{0D451B47-2752-44F6-BAA1-143F2525CDC7}" destId="{14D5C788-8020-4A71-BAC2-03A3A8584A22}" srcOrd="0" destOrd="0" presId="urn:microsoft.com/office/officeart/2005/8/layout/bProcess3"/>
    <dgm:cxn modelId="{F6FFFDED-8B48-428E-B6AF-8DCF889F3943}" type="presOf" srcId="{CE723EDE-E774-45E0-B928-82D534579297}" destId="{8F098DA9-14B4-4E98-B03D-152352E500B8}" srcOrd="1" destOrd="0" presId="urn:microsoft.com/office/officeart/2005/8/layout/bProcess3"/>
    <dgm:cxn modelId="{40B2FED6-E007-4432-AD18-4540CD0757F0}" type="presParOf" srcId="{5969ABAC-7B28-4514-902B-184B3EFBECA1}" destId="{EEE49E6A-F609-40B8-8950-62227C013DF3}" srcOrd="0" destOrd="0" presId="urn:microsoft.com/office/officeart/2005/8/layout/bProcess3"/>
    <dgm:cxn modelId="{DECBFE18-0513-4C07-8FB7-858CD646611F}" type="presParOf" srcId="{5969ABAC-7B28-4514-902B-184B3EFBECA1}" destId="{0DB24D95-E852-4B8F-84BD-DFA577DE19E0}" srcOrd="1" destOrd="0" presId="urn:microsoft.com/office/officeart/2005/8/layout/bProcess3"/>
    <dgm:cxn modelId="{7940C21A-EBDD-47AE-A035-AAEDCBA14DE1}" type="presParOf" srcId="{0DB24D95-E852-4B8F-84BD-DFA577DE19E0}" destId="{C21678C6-209F-4A83-B7BC-43F8611D45A7}" srcOrd="0" destOrd="0" presId="urn:microsoft.com/office/officeart/2005/8/layout/bProcess3"/>
    <dgm:cxn modelId="{D819CA56-6FCB-4873-93CD-1A36E8836341}" type="presParOf" srcId="{5969ABAC-7B28-4514-902B-184B3EFBECA1}" destId="{76AF1960-8ADD-4A99-93D6-79B9EC4CDC24}" srcOrd="2" destOrd="0" presId="urn:microsoft.com/office/officeart/2005/8/layout/bProcess3"/>
    <dgm:cxn modelId="{5011E015-1F5F-47BE-95FA-BF1394726421}" type="presParOf" srcId="{5969ABAC-7B28-4514-902B-184B3EFBECA1}" destId="{BBED8958-A2D3-4447-80EB-5FE4ED222B06}" srcOrd="3" destOrd="0" presId="urn:microsoft.com/office/officeart/2005/8/layout/bProcess3"/>
    <dgm:cxn modelId="{830D7E07-953B-4564-8E46-42FA81ED2201}" type="presParOf" srcId="{BBED8958-A2D3-4447-80EB-5FE4ED222B06}" destId="{8F098DA9-14B4-4E98-B03D-152352E500B8}" srcOrd="0" destOrd="0" presId="urn:microsoft.com/office/officeart/2005/8/layout/bProcess3"/>
    <dgm:cxn modelId="{2F89346F-1D84-47AC-928F-EB03C0568495}" type="presParOf" srcId="{5969ABAC-7B28-4514-902B-184B3EFBECA1}" destId="{409E7A43-C72D-47C5-A03F-C54596C81718}" srcOrd="4" destOrd="0" presId="urn:microsoft.com/office/officeart/2005/8/layout/bProcess3"/>
    <dgm:cxn modelId="{001F251E-76C3-47F1-AE49-B08AF3E51F35}" type="presParOf" srcId="{5969ABAC-7B28-4514-902B-184B3EFBECA1}" destId="{B32B9BFD-1D22-4CD4-A07F-14BECCDCD668}" srcOrd="5" destOrd="0" presId="urn:microsoft.com/office/officeart/2005/8/layout/bProcess3"/>
    <dgm:cxn modelId="{C04A86D8-EB0C-4160-8992-BBE735B9D159}" type="presParOf" srcId="{B32B9BFD-1D22-4CD4-A07F-14BECCDCD668}" destId="{C1726103-AE35-44DE-9E8B-2F1EEF40F3C2}" srcOrd="0" destOrd="0" presId="urn:microsoft.com/office/officeart/2005/8/layout/bProcess3"/>
    <dgm:cxn modelId="{EDC94D33-2921-4949-89D8-FCDAA7FA64BC}" type="presParOf" srcId="{5969ABAC-7B28-4514-902B-184B3EFBECA1}" destId="{13413934-D70D-4C35-8F95-A9F8CDE20473}" srcOrd="6" destOrd="0" presId="urn:microsoft.com/office/officeart/2005/8/layout/bProcess3"/>
    <dgm:cxn modelId="{64E3226E-FB13-4849-A7F5-7398E11FD00D}" type="presParOf" srcId="{5969ABAC-7B28-4514-902B-184B3EFBECA1}" destId="{E897BD46-CC11-483A-879C-1A4AF6763BAD}" srcOrd="7" destOrd="0" presId="urn:microsoft.com/office/officeart/2005/8/layout/bProcess3"/>
    <dgm:cxn modelId="{83621D27-D6BA-4285-83F1-6AFE93A3FCA1}" type="presParOf" srcId="{E897BD46-CC11-483A-879C-1A4AF6763BAD}" destId="{B0BDB0A3-0005-4A9D-A442-7DE889C96AA6}" srcOrd="0" destOrd="0" presId="urn:microsoft.com/office/officeart/2005/8/layout/bProcess3"/>
    <dgm:cxn modelId="{3A85C94D-079C-49D9-B3DE-B3915B1E00ED}" type="presParOf" srcId="{5969ABAC-7B28-4514-902B-184B3EFBECA1}" destId="{7C0E534F-5BA0-453E-B599-C01A594658F0}" srcOrd="8" destOrd="0" presId="urn:microsoft.com/office/officeart/2005/8/layout/bProcess3"/>
    <dgm:cxn modelId="{29487D60-EE9F-4273-B450-D9B3DA935393}" type="presParOf" srcId="{5969ABAC-7B28-4514-902B-184B3EFBECA1}" destId="{14D5C788-8020-4A71-BAC2-03A3A8584A22}" srcOrd="9" destOrd="0" presId="urn:microsoft.com/office/officeart/2005/8/layout/bProcess3"/>
    <dgm:cxn modelId="{3D37419C-3972-4023-A542-5BBCA6E5A896}" type="presParOf" srcId="{14D5C788-8020-4A71-BAC2-03A3A8584A22}" destId="{034DC336-902E-4EA5-9215-FB4D3EA031BD}" srcOrd="0" destOrd="0" presId="urn:microsoft.com/office/officeart/2005/8/layout/bProcess3"/>
    <dgm:cxn modelId="{000F6849-3DBD-472D-917E-D8ECB86CFE8A}" type="presParOf" srcId="{5969ABAC-7B28-4514-902B-184B3EFBECA1}" destId="{56ADA2AF-1B36-4A0C-AC9D-CC482472902B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507E71-2ADC-4CDD-81CE-70F3673449C8}" type="doc">
      <dgm:prSet loTypeId="urn:microsoft.com/office/officeart/2005/8/layout/vProcess5" loCatId="process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346DED69-FAA8-4B50-871A-5D30413870EB}">
      <dgm:prSet phldrT="[Text]" phldr="0"/>
      <dgm:spPr/>
      <dgm:t>
        <a:bodyPr/>
        <a:lstStyle/>
        <a:p>
          <a:r>
            <a:rPr lang="en-US" dirty="0"/>
            <a:t>Hydro Storage Monitoring</a:t>
          </a:r>
          <a:endParaRPr lang="en-IN" dirty="0"/>
        </a:p>
      </dgm:t>
    </dgm:pt>
    <dgm:pt modelId="{B046E88F-F46B-444C-9F4A-5590D4A3681A}" type="parTrans" cxnId="{CAA1005A-AB60-4F51-8417-4504EADBF521}">
      <dgm:prSet/>
      <dgm:spPr/>
      <dgm:t>
        <a:bodyPr/>
        <a:lstStyle/>
        <a:p>
          <a:endParaRPr lang="en-IN"/>
        </a:p>
      </dgm:t>
    </dgm:pt>
    <dgm:pt modelId="{5E162F5F-3EC1-473F-BFD1-409CA16FC6D7}" type="sibTrans" cxnId="{CAA1005A-AB60-4F51-8417-4504EADBF521}">
      <dgm:prSet/>
      <dgm:spPr/>
      <dgm:t>
        <a:bodyPr/>
        <a:lstStyle/>
        <a:p>
          <a:endParaRPr lang="en-IN"/>
        </a:p>
      </dgm:t>
    </dgm:pt>
    <dgm:pt modelId="{F0531295-086F-4BC3-BEB7-9D931651C5C5}">
      <dgm:prSet phldrT="[Text]" phldr="0"/>
      <dgm:spPr/>
      <dgm:t>
        <a:bodyPr/>
        <a:lstStyle/>
        <a:p>
          <a:r>
            <a:rPr lang="en-US" dirty="0"/>
            <a:t>Regime Classification (Normal/Low)</a:t>
          </a:r>
          <a:endParaRPr lang="en-IN" dirty="0"/>
        </a:p>
      </dgm:t>
    </dgm:pt>
    <dgm:pt modelId="{0138E04B-4A0A-4B64-B3FF-26341AB39331}" type="parTrans" cxnId="{622863DD-0A18-46F6-8207-65894DC05D2E}">
      <dgm:prSet/>
      <dgm:spPr/>
      <dgm:t>
        <a:bodyPr/>
        <a:lstStyle/>
        <a:p>
          <a:endParaRPr lang="en-IN"/>
        </a:p>
      </dgm:t>
    </dgm:pt>
    <dgm:pt modelId="{D6C5DD74-8735-490B-965E-61959947739F}" type="sibTrans" cxnId="{622863DD-0A18-46F6-8207-65894DC05D2E}">
      <dgm:prSet/>
      <dgm:spPr/>
      <dgm:t>
        <a:bodyPr/>
        <a:lstStyle/>
        <a:p>
          <a:endParaRPr lang="en-IN"/>
        </a:p>
      </dgm:t>
    </dgm:pt>
    <dgm:pt modelId="{7596AC7C-73F6-4882-B260-66CC74B64683}">
      <dgm:prSet phldrT="[Text]" phldr="0"/>
      <dgm:spPr/>
      <dgm:t>
        <a:bodyPr/>
        <a:lstStyle/>
        <a:p>
          <a:r>
            <a:rPr lang="en-US" dirty="0"/>
            <a:t>Regime Classification (P95/ CVaR95)</a:t>
          </a:r>
          <a:endParaRPr lang="en-IN" dirty="0"/>
        </a:p>
      </dgm:t>
    </dgm:pt>
    <dgm:pt modelId="{8FC3CF1D-4E62-443C-90AD-DEC7DD6AD115}" type="parTrans" cxnId="{15D2C8EE-48E1-48BD-9E8D-D7AA02BE5F52}">
      <dgm:prSet/>
      <dgm:spPr/>
      <dgm:t>
        <a:bodyPr/>
        <a:lstStyle/>
        <a:p>
          <a:endParaRPr lang="en-IN"/>
        </a:p>
      </dgm:t>
    </dgm:pt>
    <dgm:pt modelId="{4E16F55B-5775-4EDB-9D00-B85555925645}" type="sibTrans" cxnId="{15D2C8EE-48E1-48BD-9E8D-D7AA02BE5F52}">
      <dgm:prSet/>
      <dgm:spPr/>
      <dgm:t>
        <a:bodyPr/>
        <a:lstStyle/>
        <a:p>
          <a:endParaRPr lang="en-IN"/>
        </a:p>
      </dgm:t>
    </dgm:pt>
    <dgm:pt modelId="{0D3D9791-8A2D-441D-A70D-D54FE20F4146}">
      <dgm:prSet phldrT="[Text]" phldr="0"/>
      <dgm:spPr/>
      <dgm:t>
        <a:bodyPr/>
        <a:lstStyle/>
        <a:p>
          <a:r>
            <a:rPr lang="en-US"/>
            <a:t>Procurement Decision Adjustment</a:t>
          </a:r>
          <a:endParaRPr lang="en-IN" dirty="0"/>
        </a:p>
      </dgm:t>
    </dgm:pt>
    <dgm:pt modelId="{7F4CDB80-40E7-49AA-9FDF-505787C6C823}" type="parTrans" cxnId="{9AB3E8C7-EAEB-4F7E-8017-10C612CE0268}">
      <dgm:prSet/>
      <dgm:spPr/>
      <dgm:t>
        <a:bodyPr/>
        <a:lstStyle/>
        <a:p>
          <a:endParaRPr lang="en-IN"/>
        </a:p>
      </dgm:t>
    </dgm:pt>
    <dgm:pt modelId="{36167F4E-3829-4E18-9E62-4FCDEDD6045A}" type="sibTrans" cxnId="{9AB3E8C7-EAEB-4F7E-8017-10C612CE0268}">
      <dgm:prSet/>
      <dgm:spPr/>
      <dgm:t>
        <a:bodyPr/>
        <a:lstStyle/>
        <a:p>
          <a:endParaRPr lang="en-IN"/>
        </a:p>
      </dgm:t>
    </dgm:pt>
    <dgm:pt modelId="{E25144D4-1562-436B-8003-1FC3BC7FCD00}" type="pres">
      <dgm:prSet presAssocID="{18507E71-2ADC-4CDD-81CE-70F3673449C8}" presName="outerComposite" presStyleCnt="0">
        <dgm:presLayoutVars>
          <dgm:chMax val="5"/>
          <dgm:dir/>
          <dgm:resizeHandles val="exact"/>
        </dgm:presLayoutVars>
      </dgm:prSet>
      <dgm:spPr/>
    </dgm:pt>
    <dgm:pt modelId="{D9EE3DC5-F9B2-459E-AB1D-49ACE09B63DC}" type="pres">
      <dgm:prSet presAssocID="{18507E71-2ADC-4CDD-81CE-70F3673449C8}" presName="dummyMaxCanvas" presStyleCnt="0">
        <dgm:presLayoutVars/>
      </dgm:prSet>
      <dgm:spPr/>
    </dgm:pt>
    <dgm:pt modelId="{D7B14B93-D434-4DAA-A37D-B37540537BEB}" type="pres">
      <dgm:prSet presAssocID="{18507E71-2ADC-4CDD-81CE-70F3673449C8}" presName="FourNodes_1" presStyleLbl="node1" presStyleIdx="0" presStyleCnt="4">
        <dgm:presLayoutVars>
          <dgm:bulletEnabled val="1"/>
        </dgm:presLayoutVars>
      </dgm:prSet>
      <dgm:spPr/>
    </dgm:pt>
    <dgm:pt modelId="{5200EE18-3436-480F-B1EC-A28AC2F48F58}" type="pres">
      <dgm:prSet presAssocID="{18507E71-2ADC-4CDD-81CE-70F3673449C8}" presName="FourNodes_2" presStyleLbl="node1" presStyleIdx="1" presStyleCnt="4">
        <dgm:presLayoutVars>
          <dgm:bulletEnabled val="1"/>
        </dgm:presLayoutVars>
      </dgm:prSet>
      <dgm:spPr/>
    </dgm:pt>
    <dgm:pt modelId="{571AA311-19FB-4269-B387-F71788CC56E2}" type="pres">
      <dgm:prSet presAssocID="{18507E71-2ADC-4CDD-81CE-70F3673449C8}" presName="FourNodes_3" presStyleLbl="node1" presStyleIdx="2" presStyleCnt="4">
        <dgm:presLayoutVars>
          <dgm:bulletEnabled val="1"/>
        </dgm:presLayoutVars>
      </dgm:prSet>
      <dgm:spPr/>
    </dgm:pt>
    <dgm:pt modelId="{A8464F02-1859-428D-A6D7-392F1E9C7304}" type="pres">
      <dgm:prSet presAssocID="{18507E71-2ADC-4CDD-81CE-70F3673449C8}" presName="FourNodes_4" presStyleLbl="node1" presStyleIdx="3" presStyleCnt="4">
        <dgm:presLayoutVars>
          <dgm:bulletEnabled val="1"/>
        </dgm:presLayoutVars>
      </dgm:prSet>
      <dgm:spPr/>
    </dgm:pt>
    <dgm:pt modelId="{9C294FEA-292B-4284-AD12-9B6AAAC9E10A}" type="pres">
      <dgm:prSet presAssocID="{18507E71-2ADC-4CDD-81CE-70F3673449C8}" presName="FourConn_1-2" presStyleLbl="fgAccFollowNode1" presStyleIdx="0" presStyleCnt="3">
        <dgm:presLayoutVars>
          <dgm:bulletEnabled val="1"/>
        </dgm:presLayoutVars>
      </dgm:prSet>
      <dgm:spPr/>
    </dgm:pt>
    <dgm:pt modelId="{5CBDDB8A-D932-411D-A428-93972E0B3B4F}" type="pres">
      <dgm:prSet presAssocID="{18507E71-2ADC-4CDD-81CE-70F3673449C8}" presName="FourConn_2-3" presStyleLbl="fgAccFollowNode1" presStyleIdx="1" presStyleCnt="3">
        <dgm:presLayoutVars>
          <dgm:bulletEnabled val="1"/>
        </dgm:presLayoutVars>
      </dgm:prSet>
      <dgm:spPr/>
    </dgm:pt>
    <dgm:pt modelId="{5E3E84C9-4AA8-47A0-9DF7-425E687681E1}" type="pres">
      <dgm:prSet presAssocID="{18507E71-2ADC-4CDD-81CE-70F3673449C8}" presName="FourConn_3-4" presStyleLbl="fgAccFollowNode1" presStyleIdx="2" presStyleCnt="3">
        <dgm:presLayoutVars>
          <dgm:bulletEnabled val="1"/>
        </dgm:presLayoutVars>
      </dgm:prSet>
      <dgm:spPr/>
    </dgm:pt>
    <dgm:pt modelId="{A61CD3C5-6781-4F81-B823-67DC49618891}" type="pres">
      <dgm:prSet presAssocID="{18507E71-2ADC-4CDD-81CE-70F3673449C8}" presName="FourNodes_1_text" presStyleLbl="node1" presStyleIdx="3" presStyleCnt="4">
        <dgm:presLayoutVars>
          <dgm:bulletEnabled val="1"/>
        </dgm:presLayoutVars>
      </dgm:prSet>
      <dgm:spPr/>
    </dgm:pt>
    <dgm:pt modelId="{AA98D873-A7D9-4D52-9D9D-8E43ACFBE24D}" type="pres">
      <dgm:prSet presAssocID="{18507E71-2ADC-4CDD-81CE-70F3673449C8}" presName="FourNodes_2_text" presStyleLbl="node1" presStyleIdx="3" presStyleCnt="4">
        <dgm:presLayoutVars>
          <dgm:bulletEnabled val="1"/>
        </dgm:presLayoutVars>
      </dgm:prSet>
      <dgm:spPr/>
    </dgm:pt>
    <dgm:pt modelId="{350E8C31-1D10-44AA-A005-A2780EC42E52}" type="pres">
      <dgm:prSet presAssocID="{18507E71-2ADC-4CDD-81CE-70F3673449C8}" presName="FourNodes_3_text" presStyleLbl="node1" presStyleIdx="3" presStyleCnt="4">
        <dgm:presLayoutVars>
          <dgm:bulletEnabled val="1"/>
        </dgm:presLayoutVars>
      </dgm:prSet>
      <dgm:spPr/>
    </dgm:pt>
    <dgm:pt modelId="{0E344FDF-7BE6-4FDE-B052-4222D0C4CEFA}" type="pres">
      <dgm:prSet presAssocID="{18507E71-2ADC-4CDD-81CE-70F3673449C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3F5710F-08DC-4AE2-9C12-9160D5C9A7F9}" type="presOf" srcId="{346DED69-FAA8-4B50-871A-5D30413870EB}" destId="{A61CD3C5-6781-4F81-B823-67DC49618891}" srcOrd="1" destOrd="0" presId="urn:microsoft.com/office/officeart/2005/8/layout/vProcess5"/>
    <dgm:cxn modelId="{4F6B7D33-CEB8-45B9-84F4-FFF87758EB83}" type="presOf" srcId="{7596AC7C-73F6-4882-B260-66CC74B64683}" destId="{571AA311-19FB-4269-B387-F71788CC56E2}" srcOrd="0" destOrd="0" presId="urn:microsoft.com/office/officeart/2005/8/layout/vProcess5"/>
    <dgm:cxn modelId="{179C5234-CBA6-4D7F-8524-372BB4E35A35}" type="presOf" srcId="{18507E71-2ADC-4CDD-81CE-70F3673449C8}" destId="{E25144D4-1562-436B-8003-1FC3BC7FCD00}" srcOrd="0" destOrd="0" presId="urn:microsoft.com/office/officeart/2005/8/layout/vProcess5"/>
    <dgm:cxn modelId="{7AA62745-A662-4DF0-B1E2-D16DC1CFA613}" type="presOf" srcId="{D6C5DD74-8735-490B-965E-61959947739F}" destId="{5CBDDB8A-D932-411D-A428-93972E0B3B4F}" srcOrd="0" destOrd="0" presId="urn:microsoft.com/office/officeart/2005/8/layout/vProcess5"/>
    <dgm:cxn modelId="{CAA1005A-AB60-4F51-8417-4504EADBF521}" srcId="{18507E71-2ADC-4CDD-81CE-70F3673449C8}" destId="{346DED69-FAA8-4B50-871A-5D30413870EB}" srcOrd="0" destOrd="0" parTransId="{B046E88F-F46B-444C-9F4A-5590D4A3681A}" sibTransId="{5E162F5F-3EC1-473F-BFD1-409CA16FC6D7}"/>
    <dgm:cxn modelId="{F22DF47C-7048-482A-91E9-CC736789F170}" type="presOf" srcId="{5E162F5F-3EC1-473F-BFD1-409CA16FC6D7}" destId="{9C294FEA-292B-4284-AD12-9B6AAAC9E10A}" srcOrd="0" destOrd="0" presId="urn:microsoft.com/office/officeart/2005/8/layout/vProcess5"/>
    <dgm:cxn modelId="{811B1190-F43F-4195-8A1D-DA28BE0671EF}" type="presOf" srcId="{4E16F55B-5775-4EDB-9D00-B85555925645}" destId="{5E3E84C9-4AA8-47A0-9DF7-425E687681E1}" srcOrd="0" destOrd="0" presId="urn:microsoft.com/office/officeart/2005/8/layout/vProcess5"/>
    <dgm:cxn modelId="{09DD21A6-98D9-42D3-8898-E726D6367704}" type="presOf" srcId="{0D3D9791-8A2D-441D-A70D-D54FE20F4146}" destId="{0E344FDF-7BE6-4FDE-B052-4222D0C4CEFA}" srcOrd="1" destOrd="0" presId="urn:microsoft.com/office/officeart/2005/8/layout/vProcess5"/>
    <dgm:cxn modelId="{BAD41AB4-0AC6-48A0-884F-66983E7F79B7}" type="presOf" srcId="{0D3D9791-8A2D-441D-A70D-D54FE20F4146}" destId="{A8464F02-1859-428D-A6D7-392F1E9C7304}" srcOrd="0" destOrd="0" presId="urn:microsoft.com/office/officeart/2005/8/layout/vProcess5"/>
    <dgm:cxn modelId="{26302CBA-3F7C-4E7C-91B5-06AC18D060B1}" type="presOf" srcId="{7596AC7C-73F6-4882-B260-66CC74B64683}" destId="{350E8C31-1D10-44AA-A005-A2780EC42E52}" srcOrd="1" destOrd="0" presId="urn:microsoft.com/office/officeart/2005/8/layout/vProcess5"/>
    <dgm:cxn modelId="{9AB3E8C7-EAEB-4F7E-8017-10C612CE0268}" srcId="{18507E71-2ADC-4CDD-81CE-70F3673449C8}" destId="{0D3D9791-8A2D-441D-A70D-D54FE20F4146}" srcOrd="3" destOrd="0" parTransId="{7F4CDB80-40E7-49AA-9FDF-505787C6C823}" sibTransId="{36167F4E-3829-4E18-9E62-4FCDEDD6045A}"/>
    <dgm:cxn modelId="{AD1CF1CB-3B1C-49C5-A0F4-970E12660C81}" type="presOf" srcId="{F0531295-086F-4BC3-BEB7-9D931651C5C5}" destId="{5200EE18-3436-480F-B1EC-A28AC2F48F58}" srcOrd="0" destOrd="0" presId="urn:microsoft.com/office/officeart/2005/8/layout/vProcess5"/>
    <dgm:cxn modelId="{67050DDD-A449-4A49-9541-647A3CB93857}" type="presOf" srcId="{346DED69-FAA8-4B50-871A-5D30413870EB}" destId="{D7B14B93-D434-4DAA-A37D-B37540537BEB}" srcOrd="0" destOrd="0" presId="urn:microsoft.com/office/officeart/2005/8/layout/vProcess5"/>
    <dgm:cxn modelId="{622863DD-0A18-46F6-8207-65894DC05D2E}" srcId="{18507E71-2ADC-4CDD-81CE-70F3673449C8}" destId="{F0531295-086F-4BC3-BEB7-9D931651C5C5}" srcOrd="1" destOrd="0" parTransId="{0138E04B-4A0A-4B64-B3FF-26341AB39331}" sibTransId="{D6C5DD74-8735-490B-965E-61959947739F}"/>
    <dgm:cxn modelId="{4D9569E3-1785-40B6-91C8-A7403C3BF6DD}" type="presOf" srcId="{F0531295-086F-4BC3-BEB7-9D931651C5C5}" destId="{AA98D873-A7D9-4D52-9D9D-8E43ACFBE24D}" srcOrd="1" destOrd="0" presId="urn:microsoft.com/office/officeart/2005/8/layout/vProcess5"/>
    <dgm:cxn modelId="{15D2C8EE-48E1-48BD-9E8D-D7AA02BE5F52}" srcId="{18507E71-2ADC-4CDD-81CE-70F3673449C8}" destId="{7596AC7C-73F6-4882-B260-66CC74B64683}" srcOrd="2" destOrd="0" parTransId="{8FC3CF1D-4E62-443C-90AD-DEC7DD6AD115}" sibTransId="{4E16F55B-5775-4EDB-9D00-B85555925645}"/>
    <dgm:cxn modelId="{916BFD09-1944-4032-9113-047515F70B37}" type="presParOf" srcId="{E25144D4-1562-436B-8003-1FC3BC7FCD00}" destId="{D9EE3DC5-F9B2-459E-AB1D-49ACE09B63DC}" srcOrd="0" destOrd="0" presId="urn:microsoft.com/office/officeart/2005/8/layout/vProcess5"/>
    <dgm:cxn modelId="{2E7F49F4-E73C-4345-AD85-A005EE40A6D1}" type="presParOf" srcId="{E25144D4-1562-436B-8003-1FC3BC7FCD00}" destId="{D7B14B93-D434-4DAA-A37D-B37540537BEB}" srcOrd="1" destOrd="0" presId="urn:microsoft.com/office/officeart/2005/8/layout/vProcess5"/>
    <dgm:cxn modelId="{C9C5411C-79FD-4AAF-8F51-E17DD7543977}" type="presParOf" srcId="{E25144D4-1562-436B-8003-1FC3BC7FCD00}" destId="{5200EE18-3436-480F-B1EC-A28AC2F48F58}" srcOrd="2" destOrd="0" presId="urn:microsoft.com/office/officeart/2005/8/layout/vProcess5"/>
    <dgm:cxn modelId="{075B03E6-86A2-42F6-8020-A8191BE8F9EA}" type="presParOf" srcId="{E25144D4-1562-436B-8003-1FC3BC7FCD00}" destId="{571AA311-19FB-4269-B387-F71788CC56E2}" srcOrd="3" destOrd="0" presId="urn:microsoft.com/office/officeart/2005/8/layout/vProcess5"/>
    <dgm:cxn modelId="{2F55E8DF-7436-4EF4-9321-FB62621A041E}" type="presParOf" srcId="{E25144D4-1562-436B-8003-1FC3BC7FCD00}" destId="{A8464F02-1859-428D-A6D7-392F1E9C7304}" srcOrd="4" destOrd="0" presId="urn:microsoft.com/office/officeart/2005/8/layout/vProcess5"/>
    <dgm:cxn modelId="{0BFECF58-C646-4FCB-BA48-044469CA0EBE}" type="presParOf" srcId="{E25144D4-1562-436B-8003-1FC3BC7FCD00}" destId="{9C294FEA-292B-4284-AD12-9B6AAAC9E10A}" srcOrd="5" destOrd="0" presId="urn:microsoft.com/office/officeart/2005/8/layout/vProcess5"/>
    <dgm:cxn modelId="{4E1E4501-0E22-4496-AD50-F102752695FE}" type="presParOf" srcId="{E25144D4-1562-436B-8003-1FC3BC7FCD00}" destId="{5CBDDB8A-D932-411D-A428-93972E0B3B4F}" srcOrd="6" destOrd="0" presId="urn:microsoft.com/office/officeart/2005/8/layout/vProcess5"/>
    <dgm:cxn modelId="{E8B59B32-9374-470B-961C-527850366A97}" type="presParOf" srcId="{E25144D4-1562-436B-8003-1FC3BC7FCD00}" destId="{5E3E84C9-4AA8-47A0-9DF7-425E687681E1}" srcOrd="7" destOrd="0" presId="urn:microsoft.com/office/officeart/2005/8/layout/vProcess5"/>
    <dgm:cxn modelId="{8F1714B3-E37D-47C4-BF66-0EEF86D71171}" type="presParOf" srcId="{E25144D4-1562-436B-8003-1FC3BC7FCD00}" destId="{A61CD3C5-6781-4F81-B823-67DC49618891}" srcOrd="8" destOrd="0" presId="urn:microsoft.com/office/officeart/2005/8/layout/vProcess5"/>
    <dgm:cxn modelId="{72DF6117-A033-42F9-BF56-DFAB758B2A79}" type="presParOf" srcId="{E25144D4-1562-436B-8003-1FC3BC7FCD00}" destId="{AA98D873-A7D9-4D52-9D9D-8E43ACFBE24D}" srcOrd="9" destOrd="0" presId="urn:microsoft.com/office/officeart/2005/8/layout/vProcess5"/>
    <dgm:cxn modelId="{79F9047F-AAB7-4A65-94E9-0CECA2C3F276}" type="presParOf" srcId="{E25144D4-1562-436B-8003-1FC3BC7FCD00}" destId="{350E8C31-1D10-44AA-A005-A2780EC42E52}" srcOrd="10" destOrd="0" presId="urn:microsoft.com/office/officeart/2005/8/layout/vProcess5"/>
    <dgm:cxn modelId="{8713FAE1-7FC5-4FF6-9DBF-9EC03667F72C}" type="presParOf" srcId="{E25144D4-1562-436B-8003-1FC3BC7FCD00}" destId="{0E344FDF-7BE6-4FDE-B052-4222D0C4CEF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65ABE-728D-410B-A90D-4AC632DCFFC8}">
      <dsp:nvSpPr>
        <dsp:cNvPr id="0" name=""/>
        <dsp:cNvSpPr/>
      </dsp:nvSpPr>
      <dsp:spPr>
        <a:xfrm>
          <a:off x="0" y="131234"/>
          <a:ext cx="4977578" cy="690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614F1-16C0-4997-92FF-93841A7C6E14}">
      <dsp:nvSpPr>
        <dsp:cNvPr id="0" name=""/>
        <dsp:cNvSpPr/>
      </dsp:nvSpPr>
      <dsp:spPr>
        <a:xfrm>
          <a:off x="20883" y="70086"/>
          <a:ext cx="37969" cy="379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C4261-CC46-4FB7-AF95-358D51019C8D}">
      <dsp:nvSpPr>
        <dsp:cNvPr id="0" name=""/>
        <dsp:cNvSpPr/>
      </dsp:nvSpPr>
      <dsp:spPr>
        <a:xfrm>
          <a:off x="79736" y="54553"/>
          <a:ext cx="4598348" cy="1671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32" tIns="176932" rIns="176932" bIns="17693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Wholesale price behavior becomes non-linear as storage approaches scarcity thresholds</a:t>
          </a:r>
          <a:b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Regime transitions are not formally detected within conventional monitoring frameworks</a:t>
          </a:r>
          <a:b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Extreme tail risk is insufficiently integrated into operational risk management</a:t>
          </a:r>
        </a:p>
      </dsp:txBody>
      <dsp:txXfrm>
        <a:off x="79736" y="54553"/>
        <a:ext cx="4598348" cy="1671798"/>
      </dsp:txXfrm>
    </dsp:sp>
    <dsp:sp modelId="{0512B245-60B1-40F3-91CC-C1D9AA8D0E63}">
      <dsp:nvSpPr>
        <dsp:cNvPr id="0" name=""/>
        <dsp:cNvSpPr/>
      </dsp:nvSpPr>
      <dsp:spPr>
        <a:xfrm>
          <a:off x="0" y="1912936"/>
          <a:ext cx="4977578" cy="690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53D6BB-6007-4750-ACAC-F40693E6DB30}">
      <dsp:nvSpPr>
        <dsp:cNvPr id="0" name=""/>
        <dsp:cNvSpPr/>
      </dsp:nvSpPr>
      <dsp:spPr>
        <a:xfrm>
          <a:off x="20883" y="1928469"/>
          <a:ext cx="37969" cy="379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4C005-C226-4D9B-8635-792833F99E96}">
      <dsp:nvSpPr>
        <dsp:cNvPr id="0" name=""/>
        <dsp:cNvSpPr/>
      </dsp:nvSpPr>
      <dsp:spPr>
        <a:xfrm>
          <a:off x="79736" y="1912936"/>
          <a:ext cx="4598348" cy="1671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32" tIns="176932" rIns="176932" bIns="17693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How can hydro storage indicators be systematically transformed into early-warning signals for extreme wholesale price risk?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9736" y="1912936"/>
        <a:ext cx="4598348" cy="16717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24D95-E852-4B8F-84BD-DFA577DE19E0}">
      <dsp:nvSpPr>
        <dsp:cNvPr id="0" name=""/>
        <dsp:cNvSpPr/>
      </dsp:nvSpPr>
      <dsp:spPr>
        <a:xfrm>
          <a:off x="2587630" y="583903"/>
          <a:ext cx="4499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99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800613" y="627220"/>
        <a:ext cx="24029" cy="4805"/>
      </dsp:txXfrm>
    </dsp:sp>
    <dsp:sp modelId="{EEE49E6A-F609-40B8-8950-62227C013DF3}">
      <dsp:nvSpPr>
        <dsp:cNvPr id="0" name=""/>
        <dsp:cNvSpPr/>
      </dsp:nvSpPr>
      <dsp:spPr>
        <a:xfrm>
          <a:off x="499883" y="2758"/>
          <a:ext cx="2089546" cy="12537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Hydro Storage Level</a:t>
          </a:r>
          <a:endParaRPr lang="en-IN" sz="2100" kern="1200" dirty="0"/>
        </a:p>
      </dsp:txBody>
      <dsp:txXfrm>
        <a:off x="499883" y="2758"/>
        <a:ext cx="2089546" cy="1253728"/>
      </dsp:txXfrm>
    </dsp:sp>
    <dsp:sp modelId="{BBED8958-A2D3-4447-80EB-5FE4ED222B06}">
      <dsp:nvSpPr>
        <dsp:cNvPr id="0" name=""/>
        <dsp:cNvSpPr/>
      </dsp:nvSpPr>
      <dsp:spPr>
        <a:xfrm>
          <a:off x="5157773" y="583903"/>
          <a:ext cx="4499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99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370756" y="627220"/>
        <a:ext cx="24029" cy="4805"/>
      </dsp:txXfrm>
    </dsp:sp>
    <dsp:sp modelId="{76AF1960-8ADD-4A99-93D6-79B9EC4CDC24}">
      <dsp:nvSpPr>
        <dsp:cNvPr id="0" name=""/>
        <dsp:cNvSpPr/>
      </dsp:nvSpPr>
      <dsp:spPr>
        <a:xfrm>
          <a:off x="3070026" y="2758"/>
          <a:ext cx="2089546" cy="12537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Scarcity Threshold (10</a:t>
          </a:r>
          <a:r>
            <a:rPr lang="en-US" sz="2100" kern="1200" baseline="30000" dirty="0"/>
            <a:t>th</a:t>
          </a:r>
          <a:r>
            <a:rPr lang="en-US" sz="2100" kern="1200" dirty="0"/>
            <a:t> Percentile)</a:t>
          </a:r>
          <a:endParaRPr lang="en-IN" sz="2100" kern="1200" dirty="0"/>
        </a:p>
      </dsp:txBody>
      <dsp:txXfrm>
        <a:off x="3070026" y="2758"/>
        <a:ext cx="2089546" cy="1253728"/>
      </dsp:txXfrm>
    </dsp:sp>
    <dsp:sp modelId="{B32B9BFD-1D22-4CD4-A07F-14BECCDCD668}">
      <dsp:nvSpPr>
        <dsp:cNvPr id="0" name=""/>
        <dsp:cNvSpPr/>
      </dsp:nvSpPr>
      <dsp:spPr>
        <a:xfrm>
          <a:off x="1544657" y="1254687"/>
          <a:ext cx="5140285" cy="449995"/>
        </a:xfrm>
        <a:custGeom>
          <a:avLst/>
          <a:gdLst/>
          <a:ahLst/>
          <a:cxnLst/>
          <a:rect l="0" t="0" r="0" b="0"/>
          <a:pathLst>
            <a:path>
              <a:moveTo>
                <a:pt x="5140285" y="0"/>
              </a:moveTo>
              <a:lnTo>
                <a:pt x="5140285" y="242097"/>
              </a:lnTo>
              <a:lnTo>
                <a:pt x="0" y="242097"/>
              </a:lnTo>
              <a:lnTo>
                <a:pt x="0" y="4499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/>
        </a:p>
      </dsp:txBody>
      <dsp:txXfrm>
        <a:off x="3985732" y="1477282"/>
        <a:ext cx="258135" cy="4805"/>
      </dsp:txXfrm>
    </dsp:sp>
    <dsp:sp modelId="{409E7A43-C72D-47C5-A03F-C54596C81718}">
      <dsp:nvSpPr>
        <dsp:cNvPr id="0" name=""/>
        <dsp:cNvSpPr/>
      </dsp:nvSpPr>
      <dsp:spPr>
        <a:xfrm>
          <a:off x="5640169" y="2758"/>
          <a:ext cx="2089546" cy="12537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Regime Classification (Normal/Low)</a:t>
          </a:r>
          <a:endParaRPr lang="en-IN" sz="2100" kern="1200" dirty="0"/>
        </a:p>
      </dsp:txBody>
      <dsp:txXfrm>
        <a:off x="5640169" y="2758"/>
        <a:ext cx="2089546" cy="1253728"/>
      </dsp:txXfrm>
    </dsp:sp>
    <dsp:sp modelId="{E897BD46-CC11-483A-879C-1A4AF6763BAD}">
      <dsp:nvSpPr>
        <dsp:cNvPr id="0" name=""/>
        <dsp:cNvSpPr/>
      </dsp:nvSpPr>
      <dsp:spPr>
        <a:xfrm>
          <a:off x="2587630" y="2318226"/>
          <a:ext cx="4499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99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800613" y="2361543"/>
        <a:ext cx="24029" cy="4805"/>
      </dsp:txXfrm>
    </dsp:sp>
    <dsp:sp modelId="{13413934-D70D-4C35-8F95-A9F8CDE20473}">
      <dsp:nvSpPr>
        <dsp:cNvPr id="0" name=""/>
        <dsp:cNvSpPr/>
      </dsp:nvSpPr>
      <dsp:spPr>
        <a:xfrm>
          <a:off x="499883" y="1737082"/>
          <a:ext cx="2089546" cy="12537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Price Distribution Shift</a:t>
          </a:r>
          <a:endParaRPr lang="en-IN" sz="2100" kern="1200" dirty="0"/>
        </a:p>
      </dsp:txBody>
      <dsp:txXfrm>
        <a:off x="499883" y="1737082"/>
        <a:ext cx="2089546" cy="1253728"/>
      </dsp:txXfrm>
    </dsp:sp>
    <dsp:sp modelId="{14D5C788-8020-4A71-BAC2-03A3A8584A22}">
      <dsp:nvSpPr>
        <dsp:cNvPr id="0" name=""/>
        <dsp:cNvSpPr/>
      </dsp:nvSpPr>
      <dsp:spPr>
        <a:xfrm>
          <a:off x="5157773" y="2318226"/>
          <a:ext cx="4499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99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370756" y="2361543"/>
        <a:ext cx="24029" cy="4805"/>
      </dsp:txXfrm>
    </dsp:sp>
    <dsp:sp modelId="{7C0E534F-5BA0-453E-B599-C01A594658F0}">
      <dsp:nvSpPr>
        <dsp:cNvPr id="0" name=""/>
        <dsp:cNvSpPr/>
      </dsp:nvSpPr>
      <dsp:spPr>
        <a:xfrm>
          <a:off x="3070026" y="1737082"/>
          <a:ext cx="2089546" cy="12537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Tail Amplification (P95 / </a:t>
          </a:r>
          <a:r>
            <a:rPr lang="en-US" sz="2100" kern="1200"/>
            <a:t>CVaR)</a:t>
          </a:r>
          <a:endParaRPr lang="en-IN" sz="2100" kern="1200" dirty="0"/>
        </a:p>
      </dsp:txBody>
      <dsp:txXfrm>
        <a:off x="3070026" y="1737082"/>
        <a:ext cx="2089546" cy="1253728"/>
      </dsp:txXfrm>
    </dsp:sp>
    <dsp:sp modelId="{56ADA2AF-1B36-4A0C-AC9D-CC482472902B}">
      <dsp:nvSpPr>
        <dsp:cNvPr id="0" name=""/>
        <dsp:cNvSpPr/>
      </dsp:nvSpPr>
      <dsp:spPr>
        <a:xfrm>
          <a:off x="5640169" y="1737082"/>
          <a:ext cx="2089546" cy="12537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Procurement Risk Exposure</a:t>
          </a:r>
          <a:endParaRPr lang="en-IN" sz="2100" kern="1200" dirty="0"/>
        </a:p>
      </dsp:txBody>
      <dsp:txXfrm>
        <a:off x="5640169" y="1737082"/>
        <a:ext cx="2089546" cy="12537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14B93-D434-4DAA-A37D-B37540537BEB}">
      <dsp:nvSpPr>
        <dsp:cNvPr id="0" name=""/>
        <dsp:cNvSpPr/>
      </dsp:nvSpPr>
      <dsp:spPr>
        <a:xfrm>
          <a:off x="0" y="0"/>
          <a:ext cx="41452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Hydro Storage Monitoring</a:t>
          </a:r>
          <a:endParaRPr lang="en-IN" sz="2400" kern="1200" dirty="0"/>
        </a:p>
      </dsp:txBody>
      <dsp:txXfrm>
        <a:off x="28038" y="28038"/>
        <a:ext cx="3031393" cy="901218"/>
      </dsp:txXfrm>
    </dsp:sp>
    <dsp:sp modelId="{5200EE18-3436-480F-B1EC-A28AC2F48F58}">
      <dsp:nvSpPr>
        <dsp:cNvPr id="0" name=""/>
        <dsp:cNvSpPr/>
      </dsp:nvSpPr>
      <dsp:spPr>
        <a:xfrm>
          <a:off x="347167" y="1131347"/>
          <a:ext cx="41452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Regime Classification (Normal/Low)</a:t>
          </a:r>
          <a:endParaRPr lang="en-IN" sz="2400" kern="1200" dirty="0"/>
        </a:p>
      </dsp:txBody>
      <dsp:txXfrm>
        <a:off x="375205" y="1159385"/>
        <a:ext cx="3119795" cy="901218"/>
      </dsp:txXfrm>
    </dsp:sp>
    <dsp:sp modelId="{571AA311-19FB-4269-B387-F71788CC56E2}">
      <dsp:nvSpPr>
        <dsp:cNvPr id="0" name=""/>
        <dsp:cNvSpPr/>
      </dsp:nvSpPr>
      <dsp:spPr>
        <a:xfrm>
          <a:off x="689152" y="2262695"/>
          <a:ext cx="41452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Regime Classification (P95/ CVaR95)</a:t>
          </a:r>
          <a:endParaRPr lang="en-IN" sz="2400" kern="1200" dirty="0"/>
        </a:p>
      </dsp:txBody>
      <dsp:txXfrm>
        <a:off x="717190" y="2290733"/>
        <a:ext cx="3124977" cy="901218"/>
      </dsp:txXfrm>
    </dsp:sp>
    <dsp:sp modelId="{A8464F02-1859-428D-A6D7-392F1E9C7304}">
      <dsp:nvSpPr>
        <dsp:cNvPr id="0" name=""/>
        <dsp:cNvSpPr/>
      </dsp:nvSpPr>
      <dsp:spPr>
        <a:xfrm>
          <a:off x="1036319" y="3394043"/>
          <a:ext cx="41452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Procurement Decision Adjustment</a:t>
          </a:r>
          <a:endParaRPr lang="en-IN" sz="2400" kern="1200" dirty="0"/>
        </a:p>
      </dsp:txBody>
      <dsp:txXfrm>
        <a:off x="1064357" y="3422081"/>
        <a:ext cx="3119795" cy="901218"/>
      </dsp:txXfrm>
    </dsp:sp>
    <dsp:sp modelId="{9C294FEA-292B-4284-AD12-9B6AAAC9E10A}">
      <dsp:nvSpPr>
        <dsp:cNvPr id="0" name=""/>
        <dsp:cNvSpPr/>
      </dsp:nvSpPr>
      <dsp:spPr>
        <a:xfrm>
          <a:off x="35230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3663042" y="733200"/>
        <a:ext cx="342233" cy="468236"/>
      </dsp:txXfrm>
    </dsp:sp>
    <dsp:sp modelId="{5CBDDB8A-D932-411D-A428-93972E0B3B4F}">
      <dsp:nvSpPr>
        <dsp:cNvPr id="0" name=""/>
        <dsp:cNvSpPr/>
      </dsp:nvSpPr>
      <dsp:spPr>
        <a:xfrm>
          <a:off x="3870205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4010209" y="1864548"/>
        <a:ext cx="342233" cy="468236"/>
      </dsp:txXfrm>
    </dsp:sp>
    <dsp:sp modelId="{5E3E84C9-4AA8-47A0-9DF7-425E687681E1}">
      <dsp:nvSpPr>
        <dsp:cNvPr id="0" name=""/>
        <dsp:cNvSpPr/>
      </dsp:nvSpPr>
      <dsp:spPr>
        <a:xfrm>
          <a:off x="4212191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4352195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58138-EF48-445F-93DF-33596D56EA1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5645F-294C-4D44-87BB-036320789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11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645F-294C-4D44-87BB-036320789FD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70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645F-294C-4D44-87BB-036320789FD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650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DF057-8E75-C2C9-5E83-F80F1987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F1A71-0AAB-B7F4-9BC9-774ED67D5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BD966-2015-93EE-6DA8-1EC410361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D5A63-DEC5-193C-9984-D31D3542C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645F-294C-4D44-87BB-036320789FD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75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019F-FBBC-A396-80B4-B179FDCF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62BDC-5B0C-0250-E707-4389EAF60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E4E64-3061-B8D3-78DC-F3C18A48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D31A6-5D4A-C951-F595-095AEE9B0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88DEB-D2F1-BBEA-6AE5-1D550174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1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6053-DB7B-7CEF-3C4A-C381B354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BD75D-A3A4-FF42-B3BE-041318D4D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5C65-553B-9D38-C9E2-9C21E819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E2CDD-6833-2A1A-1CD2-55F1486D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610F3-C0FD-44E0-2014-085494F7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69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A545-ADE4-AA2E-958F-3BA3F5F9B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14B2F-B466-8F1D-93EF-4388CDB7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133F9-6C9D-7F84-AFD7-986AFFF1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E923B-D178-7DCE-27FB-DC63B1D0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7A0E7-22B5-039A-500B-B974B023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39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B8436-6FDD-FA84-8E3C-09838EEAE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C1F1E-010F-C2EE-9E7E-83510347D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15C7A-CB00-DDB7-CCA1-0808982B4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75A1D-EB2B-F432-F0ED-B790568F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3D954-2965-2910-2D06-05A12C80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2E4B6-BF25-E7C5-CA84-6B7A032D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3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FF8D-422F-9E6F-6C22-B5AF5950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AE466-645B-F6C1-67AD-FE39ABDF0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FAD33-3312-1075-2058-985A9AA69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02EF4-D08F-156A-EF18-D22961967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09273-4377-25BC-9B95-9B9F89E68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4D41F-89F7-1D56-8A23-E01ABBE9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0F5BF-E190-9DCE-614E-E00726B8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FA9FD-D7E6-A5A1-769A-7B9F1EBB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7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55B7-0B48-E454-368A-D4AFAFA2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F7FD9-6534-EDD7-C909-ECB517B0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F4549-0DF6-530E-086B-A3C44915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917B4-E929-FE50-AC32-FDA91318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2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4D0BCD-010F-3280-7A1B-A7F1856C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233DC-DF07-633F-EF10-D6030F23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E6115-9016-F211-C081-F231F082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828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272C-FF22-D957-AE39-12C1F1544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14185-384A-8DEA-3890-DFA6CE24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200B5-A8F7-BA4B-E08E-238AED35A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70D4D-B609-4004-EC55-DFF193508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5A20-19CE-09FB-43CB-EAA66589B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38BF3-2361-181D-CC2E-533FE7D3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93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F964-CED4-9A13-C630-B913D009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720E2-5F30-8F52-6A30-61EA60B8D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E372D-0F3D-7E85-E1F1-7A20A37B8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90C98-522C-A156-39C2-A7D939E3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58DD2-6919-B9FC-F543-56A62456B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91403-C548-32F6-0835-E605F3B1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34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900F-F008-F2D0-D058-4592F22C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5B701-CF48-75FF-FF44-7E900FA7D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2EBCE-D348-D76B-24B0-BB685042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D0C51-749A-91B4-6BB0-A02DF58C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1EC82-2213-AC65-8021-A1B35EED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19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46D36-6EF1-90F3-4FFA-A373CE2C1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D272B-D9D2-AF87-59C4-F59C0F135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18E9F-C984-D8D0-C157-4F208BA9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C9CE1-4DDC-32BB-25D6-809F1979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8E66E-A060-A34D-0FF6-6506DB17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33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95831-9F42-3B43-5520-46F9209B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02E81-C939-D276-5259-D56E61754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A9B86-BB60-B094-4A83-E6AF95052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239AE-463D-40A7-9CF0-8C5FC55528F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04E0C-A83E-A359-EAAE-0A77B5F61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AFB49-358D-09AC-C5CE-1817A585D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917FE-214A-4DB5-B30C-7E03E9F4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83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3D42F-49F3-126B-D89B-ED586F318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470" y="2406132"/>
            <a:ext cx="10640754" cy="775845"/>
          </a:xfrm>
        </p:spPr>
        <p:txBody>
          <a:bodyPr anchor="b"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Regime-Sensitive Assessment of Wholesale Electricity Price Risk in New Zealand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Hydro-Risk Price Forecasting Model</a:t>
            </a:r>
            <a:endParaRPr lang="en-IN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692C2-F1EB-32EE-6D5D-B1FED2FFD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9178" y="5196969"/>
            <a:ext cx="9163757" cy="450447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of Analytics (Business)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Code: 115.801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Siddharthan Muthukumaran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25007430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Shafiq Alam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Organisation: Wellington Electricity</a:t>
            </a:r>
          </a:p>
          <a:p>
            <a:pPr>
              <a:lnSpc>
                <a:spcPct val="150000"/>
              </a:lnSpc>
            </a:pPr>
            <a:endParaRPr lang="en-I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8" name="Picture 4" descr="Massey University | Study Options">
            <a:extLst>
              <a:ext uri="{FF2B5EF4-FFF2-40B4-BE49-F238E27FC236}">
                <a16:creationId xmlns:a16="http://schemas.microsoft.com/office/drawing/2014/main" id="{060F2449-FCA0-64D7-A5EB-0A5694540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9" t="21674" r="7354" b="24315"/>
          <a:stretch>
            <a:fillRect/>
          </a:stretch>
        </p:blipFill>
        <p:spPr bwMode="auto">
          <a:xfrm>
            <a:off x="2993570" y="119743"/>
            <a:ext cx="6106887" cy="1532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786E6B61-96D2-87D7-A84D-C9C05FA51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0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4" name="Rectangle 2093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6" name="Rectangle 2095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CA3F8-21D4-918F-AE0A-6B0ECAD3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4" y="1737746"/>
            <a:ext cx="9833548" cy="661647"/>
          </a:xfrm>
        </p:spPr>
        <p:txBody>
          <a:bodyPr anchor="b">
            <a:norm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Context: Hydro-Dominated Electricity Markets</a:t>
            </a:r>
            <a:endParaRPr lang="en-IN" sz="3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98" name="Group 2097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099" name="Freeform: Shape 2098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0" name="Freeform: Shape 2099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1" name="Freeform: Shape 2100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2" name="Freeform: Shape 2101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7840D-8B31-0B0F-678F-4FF9B2D22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New Zealand’s electricity market is structurally hydro-dominated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Hydro storage functions as an intertemporal economic resource shaping marginal price formation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Sustained low-storage (dry-year) conditions coincide with structural wholesale price spikes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monitoring frameworks focus on averages, not regime shifts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Extreme price risk remains insufficiently quantified</a:t>
            </a:r>
          </a:p>
          <a:p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04" name="Group 2103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6" name="Freeform: Shape 2105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7" name="Freeform: Shape 2106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8" name="Freeform: Shape 2107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B3D98DCC-EF35-28F0-DFA1-6D784D02C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91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99404E-A67E-68B8-9D86-F46EF277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6"/>
            <a:ext cx="4977976" cy="666616"/>
          </a:xfrm>
        </p:spPr>
        <p:txBody>
          <a:bodyPr>
            <a:noAutofit/>
          </a:bodyPr>
          <a:lstStyle/>
          <a:p>
            <a:r>
              <a:rPr lang="en-IN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Problem</a:t>
            </a:r>
            <a:br>
              <a:rPr lang="en-IN" sz="3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1C7DAE2C-9AB3-4551-BBD1-3EE30E433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572587"/>
              </p:ext>
            </p:extLst>
          </p:nvPr>
        </p:nvGraphicFramePr>
        <p:xfrm>
          <a:off x="804672" y="2530540"/>
          <a:ext cx="4977578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Bar Graph with Upward Trend">
            <a:extLst>
              <a:ext uri="{FF2B5EF4-FFF2-40B4-BE49-F238E27FC236}">
                <a16:creationId xmlns:a16="http://schemas.microsoft.com/office/drawing/2014/main" id="{20C8E243-5777-8B2E-AB59-F3B3D5BC68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4152" y="1912412"/>
            <a:ext cx="3033176" cy="30331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3D56163-7114-3E15-284F-34D2F4157EEB}"/>
              </a:ext>
            </a:extLst>
          </p:cNvPr>
          <p:cNvSpPr txBox="1">
            <a:spLocks/>
          </p:cNvSpPr>
          <p:nvPr/>
        </p:nvSpPr>
        <p:spPr>
          <a:xfrm>
            <a:off x="804274" y="1755066"/>
            <a:ext cx="4977976" cy="6666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retailers in New Zealand face material procurement cost exposure during hydro scarcity regimes.</a:t>
            </a:r>
            <a:endParaRPr lang="en-IN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CFA83B15-4576-8046-98C2-2070088DF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05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3A2DCC-E002-DFC8-318F-5B542307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&amp;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FF0CD-31A4-819D-B630-B35D57515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23304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whether hydro storage functions as a regime-switching variable</a:t>
            </a:r>
            <a:b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Quantify non-linear price sensitivity under scarcity</a:t>
            </a:r>
            <a:b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Measure extreme tail risk under low-storage conditions</a:t>
            </a:r>
            <a:b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an early-warning framework for operational decision-making</a:t>
            </a:r>
          </a:p>
        </p:txBody>
      </p:sp>
      <p:pic>
        <p:nvPicPr>
          <p:cNvPr id="4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A84635ED-6806-B10E-73A5-ADD1CFFD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3FB51E-2778-90E9-07E4-E11F86163BFB}"/>
              </a:ext>
            </a:extLst>
          </p:cNvPr>
          <p:cNvSpPr txBox="1">
            <a:spLocks/>
          </p:cNvSpPr>
          <p:nvPr/>
        </p:nvSpPr>
        <p:spPr>
          <a:xfrm>
            <a:off x="6172200" y="3608788"/>
            <a:ext cx="5221224" cy="2330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Hypotheses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H1: Wholesale price sensitivity increases non-linearly as storage declines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H2: Low-storage regimes exhibit significantly higher tail risk (CVaR)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H3: Regime shifts produce persistence in elevated price states</a:t>
            </a:r>
          </a:p>
        </p:txBody>
      </p:sp>
    </p:spTree>
    <p:extLst>
      <p:ext uri="{BB962C8B-B14F-4D97-AF65-F5344CB8AC3E}">
        <p14:creationId xmlns:p14="http://schemas.microsoft.com/office/powerpoint/2010/main" val="417956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5BD32-9D19-05D0-59ED-1C15C027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Positioning &amp; Gap</a:t>
            </a:r>
          </a:p>
        </p:txBody>
      </p:sp>
      <p:pic>
        <p:nvPicPr>
          <p:cNvPr id="7" name="Graphic 6" descr="Windmill">
            <a:extLst>
              <a:ext uri="{FF2B5EF4-FFF2-40B4-BE49-F238E27FC236}">
                <a16:creationId xmlns:a16="http://schemas.microsoft.com/office/drawing/2014/main" id="{9915657F-B72D-70A7-E4E5-D66A398F5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887D-D027-987F-27F7-5D48CF2F9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Positioning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Hydro-dominated electricity markets exhibit scarcity-driven marginal pricing dynamics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literature documents volatility but rarely formalises regime identification mechanisms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 modelling frameworks frequently emphasise mean behaviour rather than tail risk structure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of hydrological storage indicators into operational risk systems remains limited</a:t>
            </a:r>
          </a:p>
          <a:p>
            <a:pPr marL="0" indent="0">
              <a:buNone/>
            </a:pPr>
            <a:endParaRPr lang="en-IN" sz="1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  <a:b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a regime-sensitive, tail-aware wholesale price risk modelling framework in hydro-dominated markets.</a:t>
            </a:r>
            <a:endParaRPr lang="en-IN" sz="1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5CC4FAEF-D93C-D724-ED36-AB3DA2CDF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215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A21F-6D62-930E-D481-3029F7A72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8B80DE6D-1C35-5E48-B3A0-5BAACABB3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F5CF15-967E-03DC-B614-0AAE5824D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B0089F-57CB-BFD6-1907-8F65068ED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0E7E24B-185F-8A77-0915-889D2E6CFF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413661D-1559-A826-BF12-5A988D76D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C2FA1B5-A422-29A4-8BDC-856994382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BA33ED-399D-FEDD-4826-F9C65CE1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92BC4C-9BAA-DB0C-1C23-4E3DB89CD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78E629D-1992-FC5A-66EA-249A015F9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B2AD64B-5C0B-6C0A-E95B-7C3833ACA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51AAEE8-803D-F003-5992-292518B28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21EE32-445E-9DF4-CCAC-6A8503BDB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7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6E457F80-5EDD-B333-2ADF-91EBAD4EB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AFA1A469-BC6C-4B12-D4A2-A9DC6E614F0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Conceptual Framework: Hydro-Regime Price Dynamics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FA920A2-D26C-FD98-40B2-02FAFE6AE35B}"/>
              </a:ext>
            </a:extLst>
          </p:cNvPr>
          <p:cNvSpPr txBox="1">
            <a:spLocks/>
          </p:cNvSpPr>
          <p:nvPr/>
        </p:nvSpPr>
        <p:spPr>
          <a:xfrm>
            <a:off x="838200" y="5122521"/>
            <a:ext cx="105918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Hydro storage functions as a structural state variable governing price dynamics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Scarcity alters the shape of the price distribution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Tail-risk concentration drives procurement volatility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id="{3A1B8C32-AAA4-8143-12AE-7E39775F4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417175"/>
              </p:ext>
            </p:extLst>
          </p:nvPr>
        </p:nvGraphicFramePr>
        <p:xfrm>
          <a:off x="2019300" y="1578429"/>
          <a:ext cx="8229600" cy="2993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004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5AFA3-7C8C-FDD2-E35C-2A8FF6E9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0"/>
            <a:ext cx="9829800" cy="8316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 &amp; Sample Structure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CA1B0-C055-5DDE-E8C4-0A182E147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745" y="415811"/>
            <a:ext cx="6432311" cy="322762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coverage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aligned dataset: 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1996–2024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279 monthly observations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Modelling sample (HVDC + lag availability): 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1996–2019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241 monthly observations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Frequency: 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(chosen to align hydro conditions with observable price dynamics and reduce short-term noise)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monthly “risk panel” indexed by 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Year–Month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sources cleaned, standardized, and aligned for comparability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3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9A01DF0D-A8A3-A818-B97B-76CFBE1C7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CB06EB-9DCC-283E-7F5A-C403D3414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59" y="3635694"/>
            <a:ext cx="5406341" cy="30590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inputs (monthly, harmonised to Year–Month)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Wholesale electricity prices (NZD/MWh)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hydro storage (active)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HVDC inter-island flows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Tributary inflows and spill volumes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indicators (NIWA monthly)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storage capacity / specific energy series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AC54873-B415-7CE8-0CF3-45AECE573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842" y="778993"/>
            <a:ext cx="5426107" cy="392636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052732E-4535-D94C-22A3-04B77AD2C8E9}"/>
              </a:ext>
            </a:extLst>
          </p:cNvPr>
          <p:cNvSpPr txBox="1"/>
          <p:nvPr/>
        </p:nvSpPr>
        <p:spPr>
          <a:xfrm>
            <a:off x="5410200" y="4663388"/>
            <a:ext cx="66067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Snapshot (Modelling Sample: 1996–2019)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observations: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 monthly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Scarcity months (≤10th percentile):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~24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wholesale price: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179.5 NZD/MWh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storage level: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61.8% of full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Scarcity months represent ~10% of the empirical distribution by construction</a:t>
            </a:r>
          </a:p>
        </p:txBody>
      </p:sp>
    </p:spTree>
    <p:extLst>
      <p:ext uri="{BB962C8B-B14F-4D97-AF65-F5344CB8AC3E}">
        <p14:creationId xmlns:p14="http://schemas.microsoft.com/office/powerpoint/2010/main" val="3788585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3D89E-B290-F74E-1A75-B8E533172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153309"/>
            <a:ext cx="9829800" cy="6496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Regime Identification Framework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31263-BF9A-9AE4-4C6B-80CC8D9B2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3030" y="1698171"/>
            <a:ext cx="4920341" cy="48985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Conceptual Framing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 storage is modelled as a structural state variable governing wholesale price dynamics.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 Definition</a:t>
            </a:r>
          </a:p>
          <a:p>
            <a:r>
              <a:rPr lang="en-US" sz="1400" dirty="0"/>
              <a:t>Active storage percentage employed as the primary regime indicator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/>
              <a:t>Scarcity threshold defined at the 10th percentile of the empirical storage distribution</a:t>
            </a:r>
          </a:p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regime specification:</a:t>
            </a:r>
            <a:b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  Normal Regime</a:t>
            </a:r>
            <a:b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  Low-Storage (Scarcity) Regime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Rationale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 classification: </a:t>
            </a:r>
          </a:p>
          <a:p>
            <a:r>
              <a:rPr lang="en-US" sz="1400" dirty="0"/>
              <a:t>Enables estimation of non-linear price sensitivity</a:t>
            </a:r>
          </a:p>
          <a:p>
            <a:r>
              <a:rPr lang="en-US" sz="1400" dirty="0"/>
              <a:t>Allows explicit differentiation of tail-risk behavior</a:t>
            </a:r>
          </a:p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/>
              <a:t>Facilitates persistence analysis within scarcity regimes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EEF4A42-6CAA-889E-A19B-AB957FAA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869" y="2097241"/>
            <a:ext cx="6482197" cy="24804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161BD2-767A-3B3A-3C17-580430745000}"/>
              </a:ext>
            </a:extLst>
          </p:cNvPr>
          <p:cNvSpPr txBox="1"/>
          <p:nvPr/>
        </p:nvSpPr>
        <p:spPr>
          <a:xfrm>
            <a:off x="6444343" y="4504175"/>
            <a:ext cx="5246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Low-storage regime defined as storage ≤ 10th percentile (≈ 34% of full capacity).</a:t>
            </a:r>
            <a:endParaRPr lang="en-IN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007DF220-E207-32F5-BF1E-3182EABB8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3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DBC47-114F-86BD-D4BF-7DE71083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140015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Evidence of Regime-Dependent Price Behavior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7D81D28B-1240-9403-1B12-FDA8B61E2DF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60751" y="2104365"/>
            <a:ext cx="5126896" cy="3227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sz="1800" dirty="0"/>
              <a:t>Extreme price spikes concentrate at low storage levels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sz="1800" dirty="0"/>
              <a:t>Upper-tail outcomes are disproportionately observed under scarcity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sz="1800" dirty="0"/>
              <a:t>Evidence of non-linear price sensitivity</a:t>
            </a:r>
          </a:p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sz="1800" dirty="0"/>
              <a:t>Supports threshold-based regime classification (≈34%)</a:t>
            </a:r>
          </a:p>
          <a:p>
            <a:pPr marL="0" indent="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800" dirty="0"/>
              <a:t>Scarcity is not gradual — it is structural.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5DC9E1-C980-B378-1F74-A687188AB8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093" y="1741714"/>
            <a:ext cx="5196783" cy="4313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77A16C-BE7E-AE32-B360-FE08D0031490}"/>
              </a:ext>
            </a:extLst>
          </p:cNvPr>
          <p:cNvSpPr txBox="1"/>
          <p:nvPr/>
        </p:nvSpPr>
        <p:spPr>
          <a:xfrm>
            <a:off x="6226629" y="6065123"/>
            <a:ext cx="487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price observations cluster disproportionately at low storage levels.</a:t>
            </a:r>
            <a:endParaRPr lang="en-IN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F60EDF87-3F44-BEFB-2B11-2BB3BB7B4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857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CA2FDDA-88F5-7777-978E-8DCB1F23E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E87B8-E63A-EA38-307C-9FDDA7A77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E6FE31-9E60-26ED-7A07-20C56130E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140015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Specification &amp; Estimation Strategy</a:t>
            </a:r>
            <a:endParaRPr lang="en-US" sz="3600" b="1" kern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811D39-BB1C-C7B4-58C4-35EB0736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841C119-E80D-D2FA-8A17-4717E5CB2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AE0E766-4A90-2D88-F829-423C4FBA4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E56C0A-D557-7236-7915-EE020939F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042EBC-C95E-93C8-9E6D-2C28F7996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527B7E58-4ACB-4879-77E3-99B5F831243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60751" y="2104364"/>
            <a:ext cx="5181600" cy="41549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wholesale price modelled as a function of storage regime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regime indicator captures non-linear scarcity effects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Priceₜ =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β₀ + β₁(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Regimeₜ) +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ₜ</a:t>
            </a:r>
          </a:p>
          <a:p>
            <a:pPr marL="0" indent="0">
              <a:buNone/>
            </a:pPr>
            <a:r>
              <a:rPr lang="en-US" sz="1800" i="1" dirty="0"/>
              <a:t>Focus is structural regime characterization rather than point forecasting.</a:t>
            </a:r>
            <a:endParaRPr lang="en-I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Tail-risk metrics estimated via empirical quantiles (P95, CVaR95)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Heteroskedasticity-robust standard errors applied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6A2EDA-9A69-39A6-2BF0-AA0E94F8B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86B09E-06C0-ADFF-4841-1CE735C99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4A6419B-74BA-BFA1-734B-823ADABF1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EE1A27-59A6-2E27-2E4F-41BB058E1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B0E70B9-07CC-B354-F62C-711EF6595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2E297FE7-85E2-5DBF-D1CA-79C8C2A18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4EAA2E65-EC3E-CE42-32DB-276D2F58B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871" y="2151670"/>
            <a:ext cx="5181600" cy="30408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 Framework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Regime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using 10th percentile threshold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distribution analysis (Normal vs Scarcity)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dynamics estimated via first-order Markov process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aggregation to align hydro fundamentals with observable price risk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14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9201C-930F-1DCA-2D68-790A61E0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668" y="198145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Tail Risk Amplification Under Scarcity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4887-4FC2-16AE-41A1-40B9FBEFC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920" y="2428169"/>
            <a:ext cx="5126896" cy="322762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wholesale prices increase by ~73% under scarcity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volatility rises by ~31% in low-storage regimes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Upper-tail (P95) outcomes more than double under scarcity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CVaR95 increases by ~27%, indicating concentrated tail exposure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Scarcity regimes display multi-month state persistence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 scarcity fundamentally reshapes the price distribution — risk escalation is driven by tail concentration rather than average price drift.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113AE17A-61C8-F700-F672-FD1461D4A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CAB3478-3873-1DD3-F4D8-F9C44D3CCA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84928554"/>
              </p:ext>
            </p:extLst>
          </p:nvPr>
        </p:nvGraphicFramePr>
        <p:xfrm>
          <a:off x="5464816" y="2327700"/>
          <a:ext cx="6509469" cy="227695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91823">
                  <a:extLst>
                    <a:ext uri="{9D8B030D-6E8A-4147-A177-3AD203B41FA5}">
                      <a16:colId xmlns:a16="http://schemas.microsoft.com/office/drawing/2014/main" val="69642907"/>
                    </a:ext>
                  </a:extLst>
                </a:gridCol>
                <a:gridCol w="1128953">
                  <a:extLst>
                    <a:ext uri="{9D8B030D-6E8A-4147-A177-3AD203B41FA5}">
                      <a16:colId xmlns:a16="http://schemas.microsoft.com/office/drawing/2014/main" val="2115193388"/>
                    </a:ext>
                  </a:extLst>
                </a:gridCol>
                <a:gridCol w="1530176">
                  <a:extLst>
                    <a:ext uri="{9D8B030D-6E8A-4147-A177-3AD203B41FA5}">
                      <a16:colId xmlns:a16="http://schemas.microsoft.com/office/drawing/2014/main" val="1986022586"/>
                    </a:ext>
                  </a:extLst>
                </a:gridCol>
                <a:gridCol w="1025189">
                  <a:extLst>
                    <a:ext uri="{9D8B030D-6E8A-4147-A177-3AD203B41FA5}">
                      <a16:colId xmlns:a16="http://schemas.microsoft.com/office/drawing/2014/main" val="3351852491"/>
                    </a:ext>
                  </a:extLst>
                </a:gridCol>
                <a:gridCol w="1433328">
                  <a:extLst>
                    <a:ext uri="{9D8B030D-6E8A-4147-A177-3AD203B41FA5}">
                      <a16:colId xmlns:a16="http://schemas.microsoft.com/office/drawing/2014/main" val="537441728"/>
                    </a:ext>
                  </a:extLst>
                </a:gridCol>
              </a:tblGrid>
              <a:tr h="651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Regime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Mean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Volatility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P95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CVaR95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57044"/>
                  </a:ext>
                </a:extLst>
              </a:tr>
              <a:tr h="81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 Storage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300.96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541.46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1791.5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2118.51 </a:t>
                      </a:r>
                      <a:endParaRPr lang="en-I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655860"/>
                  </a:ext>
                </a:extLst>
              </a:tr>
              <a:tr h="81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Normal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173.58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412.48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834.14</a:t>
                      </a: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1665.64</a:t>
                      </a:r>
                      <a:endParaRPr lang="en-I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51642" marR="113732" marT="75821" marB="758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95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76F9C3F-D161-FD0B-8AD5-9E40E0A7AF8C}"/>
              </a:ext>
            </a:extLst>
          </p:cNvPr>
          <p:cNvSpPr txBox="1"/>
          <p:nvPr/>
        </p:nvSpPr>
        <p:spPr>
          <a:xfrm>
            <a:off x="6389569" y="4706330"/>
            <a:ext cx="4997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CVaR95 = expected shortfall conditional on exceeding the 95th percentile.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65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2B41E-DC4E-FD91-F917-B4C7D1C6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668" y="168683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Regime Persistence &amp; Transition Dynamics (Monthly)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1C101EC1-1514-8348-2C14-F77B6CB6255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04672" y="2827419"/>
            <a:ext cx="5126896" cy="3227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sz="1800" dirty="0"/>
              <a:t>Normal conditions are highly persistent (95% monthly retention)</a:t>
            </a:r>
          </a:p>
          <a:p>
            <a:r>
              <a:rPr lang="en-US" sz="1800" dirty="0"/>
              <a:t>Entry into scarcity is relatively infrequent (5%)</a:t>
            </a:r>
          </a:p>
          <a:p>
            <a:r>
              <a:rPr lang="en-US" sz="1800" dirty="0"/>
              <a:t>Once in scarcity, the system remains there with 55% probability</a:t>
            </a:r>
          </a:p>
          <a:p>
            <a:r>
              <a:rPr lang="en-US" sz="1800" dirty="0"/>
              <a:t>Scarcity exhibits state dependence and multi-month persistence</a:t>
            </a:r>
          </a:p>
          <a:p>
            <a:r>
              <a:rPr lang="en-US" sz="1800" dirty="0"/>
              <a:t>Persistent scarcity compounds procurement risk exposure</a:t>
            </a:r>
          </a:p>
          <a:p>
            <a:pPr marL="0" indent="0">
              <a:buNone/>
            </a:pPr>
            <a:r>
              <a:rPr lang="en-US" sz="1800" dirty="0"/>
              <a:t>Low-storage regime defined as storage ≤ 10th percentile (monthly sample 1996–2019).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72411E4-EFF0-3C76-A714-54FD6D039B5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37597282"/>
              </p:ext>
            </p:extLst>
          </p:nvPr>
        </p:nvGraphicFramePr>
        <p:xfrm>
          <a:off x="5834743" y="2827419"/>
          <a:ext cx="6248400" cy="240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987">
                  <a:extLst>
                    <a:ext uri="{9D8B030D-6E8A-4147-A177-3AD203B41FA5}">
                      <a16:colId xmlns:a16="http://schemas.microsoft.com/office/drawing/2014/main" val="562075971"/>
                    </a:ext>
                  </a:extLst>
                </a:gridCol>
                <a:gridCol w="1971676">
                  <a:extLst>
                    <a:ext uri="{9D8B030D-6E8A-4147-A177-3AD203B41FA5}">
                      <a16:colId xmlns:a16="http://schemas.microsoft.com/office/drawing/2014/main" val="405536158"/>
                    </a:ext>
                  </a:extLst>
                </a:gridCol>
                <a:gridCol w="2090737">
                  <a:extLst>
                    <a:ext uri="{9D8B030D-6E8A-4147-A177-3AD203B41FA5}">
                      <a16:colId xmlns:a16="http://schemas.microsoft.com/office/drawing/2014/main" val="3211745728"/>
                    </a:ext>
                  </a:extLst>
                </a:gridCol>
              </a:tblGrid>
              <a:tr h="1006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From \ To</a:t>
                      </a:r>
                    </a:p>
                  </a:txBody>
                  <a:tcPr marL="135952" marR="135952" marT="67976" marB="67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Normal</a:t>
                      </a:r>
                    </a:p>
                  </a:txBody>
                  <a:tcPr marL="135952" marR="135952" marT="67976" marB="67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Low Storage</a:t>
                      </a:r>
                    </a:p>
                  </a:txBody>
                  <a:tcPr marL="135952" marR="135952" marT="67976" marB="67976" anchor="ctr"/>
                </a:tc>
                <a:extLst>
                  <a:ext uri="{0D108BD9-81ED-4DB2-BD59-A6C34878D82A}">
                    <a16:rowId xmlns:a16="http://schemas.microsoft.com/office/drawing/2014/main" val="2600133285"/>
                  </a:ext>
                </a:extLst>
              </a:tr>
              <a:tr h="598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/>
                        <a:t>Normal</a:t>
                      </a:r>
                      <a:endParaRPr lang="en-IN" sz="2700"/>
                    </a:p>
                  </a:txBody>
                  <a:tcPr marL="135952" marR="135952" marT="67976" marB="67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/>
                        <a:t>0.95</a:t>
                      </a:r>
                      <a:endParaRPr lang="en-IN" sz="2700"/>
                    </a:p>
                  </a:txBody>
                  <a:tcPr marL="135952" marR="135952" marT="67976" marB="67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/>
                        <a:t>0.05</a:t>
                      </a:r>
                      <a:endParaRPr lang="en-IN" sz="2700"/>
                    </a:p>
                  </a:txBody>
                  <a:tcPr marL="135952" marR="135952" marT="67976" marB="67976" anchor="ctr"/>
                </a:tc>
                <a:extLst>
                  <a:ext uri="{0D108BD9-81ED-4DB2-BD59-A6C34878D82A}">
                    <a16:rowId xmlns:a16="http://schemas.microsoft.com/office/drawing/2014/main" val="1806753712"/>
                  </a:ext>
                </a:extLst>
              </a:tr>
              <a:tr h="804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/>
                        <a:t>Low Storage</a:t>
                      </a:r>
                      <a:endParaRPr lang="en-IN" sz="2700"/>
                    </a:p>
                  </a:txBody>
                  <a:tcPr marL="135952" marR="135952" marT="67976" marB="67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/>
                        <a:t>0.45</a:t>
                      </a:r>
                      <a:endParaRPr lang="en-IN" sz="2700"/>
                    </a:p>
                  </a:txBody>
                  <a:tcPr marL="135952" marR="135952" marT="67976" marB="67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 dirty="0"/>
                        <a:t>0.55</a:t>
                      </a:r>
                      <a:endParaRPr lang="en-IN" sz="2700" dirty="0"/>
                    </a:p>
                  </a:txBody>
                  <a:tcPr marL="135952" marR="135952" marT="67976" marB="67976" anchor="ctr"/>
                </a:tc>
                <a:extLst>
                  <a:ext uri="{0D108BD9-81ED-4DB2-BD59-A6C34878D82A}">
                    <a16:rowId xmlns:a16="http://schemas.microsoft.com/office/drawing/2014/main" val="321462863"/>
                  </a:ext>
                </a:extLst>
              </a:tr>
            </a:tbl>
          </a:graphicData>
        </a:graphic>
      </p:graphicFrame>
      <p:pic>
        <p:nvPicPr>
          <p:cNvPr id="7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69286897-ABDF-BDD8-7B26-41FCBB7BA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634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5C5C00F-6BB3-8C22-A7D4-DA46BBC88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E41C0-6E27-8EDC-FDFE-79C2D9B7C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E256AD-10D8-02A7-F2E3-650FB756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668" y="168683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Structural Findings</a:t>
            </a:r>
            <a:endParaRPr lang="en-US" sz="3600" b="1" kern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146ED5-40B2-8A67-696A-DF4876269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BCBDB42-B9A9-25D0-DC50-9403900E5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F9AC385-F5A0-5678-0B54-7027651D4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70A7BDF-39DB-5D4F-6666-5363F1AA9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F81BDE2-42E8-A5AC-7FDE-F6FE3C5D8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9F3ACB23-0196-B7A9-5F41-749338B6140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04671" y="2827419"/>
            <a:ext cx="10555705" cy="3227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Evidence Summary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threshold (~34%) identifies a clear structural regime break in wholesale price dynamics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wholesale prices increase by ~73% under low-storage conditions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rises materially (~31%) during scarcity periods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Upper-tail risk escalates sharply: P95 and CVaR95 more than double relative to normal regime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Scarcity exhibits strong state persistence (55% monthly retention)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scarcity duration ≈ 1 / (1 − 0.55) ≈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months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 scarcity restructures the entire price distribution — risk escalation is structural and tail-driven, not merely incremental.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DF21A9-69BB-2F74-1F98-6552F8E59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4C0D705-CC3F-A880-FB32-531BE7B59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32323E7-AC18-8C77-8179-A73C3B010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73CD33A-F637-23AE-76A3-110515B4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E58EB0F-81C7-2E8D-29E9-EA473544B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F21F850A-0E88-19CC-77DF-8E82D2438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37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16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09ED1-76DC-AF47-6114-F90F347B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16F38C6C-9902-8001-2B43-CE7CA523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4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Early-Warning &amp; Risk Monitoring Framework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FE752CD-5116-A75E-3A83-B896C2060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434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active storage relative to 10th percentile threshold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conditional probability of remaining in scarcity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regime-specific tail risk (P95 / CVaR95)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procurement review when scarcity risk exceeds tolerance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forward hedging and contracting strategy accordingly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 storage functions as a leading risk signal, not merely a descriptive metric.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0A05D42E-C34A-FF8C-A137-34E434110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51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8" name="Content Placeholder 37">
            <a:extLst>
              <a:ext uri="{FF2B5EF4-FFF2-40B4-BE49-F238E27FC236}">
                <a16:creationId xmlns:a16="http://schemas.microsoft.com/office/drawing/2014/main" id="{CDBBB6E2-0D78-31FD-0259-7184DDD9BA4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3569977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39596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1E96652-44F7-EB50-27C9-35F8BB75B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DDCCE63-F849-8115-8813-B26C2A42C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CA6249-33FA-6998-DBD3-EF1029AAA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12FFE8A-E55B-A501-6A7D-D66E21762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55ED442-E7B1-9FBB-F481-3C5F85F2B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0443E9-BFE9-43E5-E509-8A0D01D1F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A3E3AB9-CACB-8CF5-71DC-C2FB58ED0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04A9DB5-AE28-FD3D-37E5-E30B6D984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E7DECA-FB90-24F2-4A0E-715E4EF0B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F47593-DAD7-1CE3-6960-2C8651354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8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0973B8CD-6084-A603-CDBD-9008A2C45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51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5DA2024-0157-33DD-4AF0-6151E41D5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Business Implications for Wellington Electricity</a:t>
            </a:r>
            <a:endParaRPr lang="en-IN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BF5B81D6-AB39-AD8E-CF29-FA2B7398D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Actions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storage-based early-warning triggers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adjust hedge ratios under scarcity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CVaR95 into enterprise risk tolerance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Stress-test procurement under 1-in-10 and 1-in-20 dry-year scenarios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regime signals into budget forecasting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0FEB0026-CDE7-E417-0526-FCFF998AB1A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70965" y="1855758"/>
            <a:ext cx="5181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Low-storage regimes materially increase wholesale procurement exposure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Tail-risk amplification drives extreme cost volatility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Regime persistence compounds cumulative financial risk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Mean-based monitoring materially understates exposure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Regime-sensitive monitoring improves procurement stability and reduces unexpected cost shocks.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728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8CD700E-373A-64AD-05BD-353FA74FF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C2BCEBF-4867-7934-8143-C1B178DDD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D54BFDD-E04D-2C42-2486-BF49CF493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6CFC53-5836-D551-8004-EB13C087F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3E6533-80B2-111A-C81B-10ABF0089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B09705-68D8-4BF5-A401-282EAB561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2766CFC-07C6-C6AD-3B8E-3374068F1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7811978-A494-0516-15DD-E9CD9922A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7E40FE7-3375-CF70-B25A-C6837F8060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B2A9EE4-2509-A882-35D0-294E29E73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4C53DD8D-CC4E-6681-2C0A-906F29B81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51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2F6B2CC4-0141-D971-0360-9C03BD13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Governance Considerations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269117D6-3864-273E-5286-08B265FF59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Methodological Limitations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Regime threshold defined using historical empirical distribution (static percentile)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used as primary state variable; other structural drivers may interact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probabilities estimated from historical data (no structural break modelling)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CVaR estimates sensitive to extreme outliers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frequency may smooth short-term intra-month volatility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D44E175E-C800-3E8C-9D86-1691A00188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Framework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recalibration of scarcity threshold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validation of tail-risk metrics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existing enterprise risk framework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Back-testing of early-warning triggers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stress-testing under extreme dry-year events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 robust for monitoring structural risk but requires ongoing recalibration and validation.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99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445A51C-B464-4295-6BCD-F085225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2BEB0D6-4E27-34CE-10B6-5D3EA9441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3F7A8CF-F1C8-AE99-6757-E0DBE5F87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06DF05F-DEEF-4096-8526-C7866F69B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3646125-9EB7-A134-2AAE-BBE8F8022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61203B-0133-194A-8D1F-FBF2FB420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31D6DD-2C57-A5CD-7120-7B749FDCD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1815F0-D7BB-13DE-9FC4-C5B81C93F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9A8F61-72E5-7AA7-156F-9C6E0D0A8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600DBC-07D2-AA66-B8A1-5C61B6A766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2" descr="Massey University : Rankings, Fees &amp; Courses Details | TopUniversities">
            <a:extLst>
              <a:ext uri="{FF2B5EF4-FFF2-40B4-BE49-F238E27FC236}">
                <a16:creationId xmlns:a16="http://schemas.microsoft.com/office/drawing/2014/main" id="{8E8C2864-31C7-98CE-FAAE-F146F9B82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517" y="0"/>
            <a:ext cx="831623" cy="8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539229B5-E9C5-61BB-E692-7F50FB55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Strategic Contribution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4836505-82EF-0D14-15B4-14206ADCFD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 storage operates as a structural state variable in NZ electricity markets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Scarcity regimes exhibit non-linear price sensitivity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Tail-risk amplification is materially higher under low-storage conditions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Regime persistence compounds cumulative procurement exposure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State-dependent monitoring improves risk transparency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 risk is not merely cyclical — it is structural, measurable, and actionable.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7D9EFAB2-15A4-1A4B-1836-0FC4063846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Contribution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regime-sensitive price risk framework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tail-risk metrics (P95 / CVaR95) into operational context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transition-based early-warning structure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decision relevance for Wellington Electricity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foundation for future regime-aware forecasting models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114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1429</Words>
  <Application>Microsoft Office PowerPoint</Application>
  <PresentationFormat>Widescreen</PresentationFormat>
  <Paragraphs>189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Regime-Sensitive Assessment of Wholesale Electricity Price Risk in New Zealand Hydro-Risk Price Forecasting Model</vt:lpstr>
      <vt:lpstr>Research Context: Hydro-Dominated Electricity Markets</vt:lpstr>
      <vt:lpstr>Decision-Making Problem </vt:lpstr>
      <vt:lpstr>Research Objectives &amp; Hypotheses</vt:lpstr>
      <vt:lpstr>Literature Positioning &amp; Gap</vt:lpstr>
      <vt:lpstr>PowerPoint Presentation</vt:lpstr>
      <vt:lpstr>Data Overview &amp; Sample Structure</vt:lpstr>
      <vt:lpstr>Regime Identification Framework</vt:lpstr>
      <vt:lpstr>Empirical Evidence of Regime-Dependent Price Behavior</vt:lpstr>
      <vt:lpstr>Model Specification &amp; Estimation Strategy</vt:lpstr>
      <vt:lpstr>Tail Risk Amplification Under Scarcity</vt:lpstr>
      <vt:lpstr>Regime Persistence &amp; Transition Dynamics (Monthly) </vt:lpstr>
      <vt:lpstr>Integrated Structural Findings</vt:lpstr>
      <vt:lpstr>Early-Warning &amp; Risk Monitoring Framework</vt:lpstr>
      <vt:lpstr>Business Implications for Wellington Electricity</vt:lpstr>
      <vt:lpstr>Limitations &amp; Governance Considerations</vt:lpstr>
      <vt:lpstr>Conclusion &amp; Strategic Contribution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Siddharthan Muthukumaran</dc:creator>
  <cp:lastModifiedBy>Siddharthan Muthukumaran</cp:lastModifiedBy>
  <cp:revision>3</cp:revision>
  <dcterms:created xsi:type="dcterms:W3CDTF">2026-02-19T22:25:57Z</dcterms:created>
  <dcterms:modified xsi:type="dcterms:W3CDTF">2026-02-20T13:44:55Z</dcterms:modified>
</cp:coreProperties>
</file>